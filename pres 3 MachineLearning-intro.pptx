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4" r:id="rId3"/>
    <p:sldId id="275" r:id="rId4"/>
    <p:sldId id="276" r:id="rId5"/>
    <p:sldId id="264" r:id="rId6"/>
    <p:sldId id="277" r:id="rId7"/>
    <p:sldId id="279" r:id="rId8"/>
    <p:sldId id="280" r:id="rId9"/>
    <p:sldId id="281" r:id="rId10"/>
    <p:sldId id="282" r:id="rId11"/>
    <p:sldId id="283" r:id="rId12"/>
    <p:sldId id="257" r:id="rId13"/>
  </p:sldIdLst>
  <p:sldSz cx="9144000" cy="5143500" type="screen16x9"/>
  <p:notesSz cx="6858000" cy="9144000"/>
  <p:embeddedFontLst>
    <p:embeddedFont>
      <p:font typeface="Helvetica" panose="020B0604020202020204" pitchFamily="34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lbtDGMM15Dx49dh6Qsye+Zr1c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070" autoAdjust="0"/>
  </p:normalViewPr>
  <p:slideViewPr>
    <p:cSldViewPr snapToGrid="0">
      <p:cViewPr varScale="1">
        <p:scale>
          <a:sx n="110" d="100"/>
          <a:sy n="110" d="100"/>
        </p:scale>
        <p:origin x="164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dirty="0"/>
              <a:t>.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487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7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6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0eda3e380_1_224"/>
          <p:cNvSpPr txBox="1">
            <a:spLocks noGrp="1"/>
          </p:cNvSpPr>
          <p:nvPr>
            <p:ph type="body" idx="1"/>
          </p:nvPr>
        </p:nvSpPr>
        <p:spPr>
          <a:xfrm>
            <a:off x="450503" y="3741428"/>
            <a:ext cx="8239200" cy="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g100eda3e380_1_22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vo"/>
              <a:buNone/>
              <a:defRPr sz="4400">
                <a:solidFill>
                  <a:srgbClr val="000000"/>
                </a:solidFill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100eda3e380_1_22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vo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58" name="Google Shape;58;g100eda3e380_1_224" descr="logou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0494" y="4438307"/>
            <a:ext cx="850998" cy="850998"/>
          </a:xfrm>
          <a:prstGeom prst="rect">
            <a:avLst/>
          </a:prstGeom>
          <a:noFill/>
          <a:ln>
            <a:noFill/>
          </a:ln>
          <a:effectLst>
            <a:reflection stA="50000" endPos="40000" fadeDir="5400012" sy="-100000" algn="bl" rotWithShape="0"/>
          </a:effectLst>
        </p:spPr>
      </p:pic>
      <p:pic>
        <p:nvPicPr>
          <p:cNvPr id="59" name="Google Shape;59;g100eda3e380_1_224" descr="dESnZnpR7dll976hCvGPvSYECiSnTDStXa8f-7kL3SwQD3PXWjAD50RZG_F55nlhHR7RW2GzInCLhGo0qHIp3uPe5d3OMWocR-X_ACF1O2p6ul5MquJA5O3NCYBL5klX47UxVANQO2o.png"/>
          <p:cNvPicPr preferRelativeResize="0"/>
          <p:nvPr/>
        </p:nvPicPr>
        <p:blipFill rotWithShape="1">
          <a:blip r:embed="rId3">
            <a:alphaModFix amt="10000"/>
          </a:blip>
          <a:srcRect b="12732"/>
          <a:stretch/>
        </p:blipFill>
        <p:spPr>
          <a:xfrm>
            <a:off x="1355006" y="697781"/>
            <a:ext cx="6434064" cy="374799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100eda3e380_1_22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155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279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tF4DML7FIW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/>
          </p:nvPr>
        </p:nvSpPr>
        <p:spPr>
          <a:xfrm>
            <a:off x="127089" y="123575"/>
            <a:ext cx="8582586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000" dirty="0"/>
              <a:t>Machine Learning: an introduction</a:t>
            </a:r>
            <a:br>
              <a:rPr lang="en-US" sz="4000" dirty="0"/>
            </a:br>
            <a:endParaRPr lang="es-CO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6" name="Google Shape;66;p1"/>
          <p:cNvSpPr txBox="1">
            <a:spLocks noGrp="1"/>
          </p:cNvSpPr>
          <p:nvPr>
            <p:ph type="body" idx="1"/>
          </p:nvPr>
        </p:nvSpPr>
        <p:spPr>
          <a:xfrm>
            <a:off x="1171150" y="2318223"/>
            <a:ext cx="6494463" cy="146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algn="ctr" eaLnBrk="1" hangingPunct="1"/>
            <a:r>
              <a:rPr lang="en-US" altLang="en-US" sz="2800" b="1" i="1" u="sng" dirty="0">
                <a:solidFill>
                  <a:srgbClr val="404040"/>
                </a:solidFill>
                <a:latin typeface="Helvetica" panose="020B0604020202020204" pitchFamily="34" charset="0"/>
              </a:rPr>
              <a:t>Fabio Martínez, PhD</a:t>
            </a:r>
            <a:endParaRPr lang="en-US" altLang="en-US" sz="2800" b="1" i="1" u="sng" baseline="30000" dirty="0">
              <a:solidFill>
                <a:srgbClr val="404040"/>
              </a:solidFill>
              <a:latin typeface="Helvetica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9308"/>
              <a:buNone/>
            </a:pPr>
            <a:endParaRPr lang="es" sz="1447" b="1" dirty="0">
              <a:solidFill>
                <a:srgbClr val="434343"/>
              </a:solidFill>
            </a:endParaRPr>
          </a:p>
          <a:p>
            <a:pPr eaLnBrk="1" hangingPunct="1"/>
            <a:r>
              <a:rPr lang="en-US" altLang="en-US" sz="1600" i="1" dirty="0">
                <a:solidFill>
                  <a:srgbClr val="404040"/>
                </a:solidFill>
                <a:latin typeface="Helvetica" panose="020B0604020202020204" pitchFamily="34" charset="0"/>
              </a:rPr>
              <a:t>Universidad Industrial de Santander, BIVL2ab -Biomedical Imaging, Vision, and Learning Laboratory, Colombia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9308"/>
              <a:buNone/>
            </a:pPr>
            <a:r>
              <a:rPr lang="es" sz="1447" dirty="0">
                <a:solidFill>
                  <a:srgbClr val="434343"/>
                </a:solidFill>
              </a:rPr>
              <a:t>	famarcar@saber.uis.edu.co, famarcar@uis.edu.co</a:t>
            </a:r>
            <a:endParaRPr sz="1447" dirty="0">
              <a:solidFill>
                <a:srgbClr val="434343"/>
              </a:solidFill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74400" y="4233825"/>
            <a:ext cx="89547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"/>
          <p:cNvGrpSpPr/>
          <p:nvPr/>
        </p:nvGrpSpPr>
        <p:grpSpPr>
          <a:xfrm flipH="1">
            <a:off x="6756775" y="3195121"/>
            <a:ext cx="2148894" cy="825345"/>
            <a:chOff x="439473" y="1811648"/>
            <a:chExt cx="4206918" cy="1744179"/>
          </a:xfrm>
        </p:grpSpPr>
        <p:sp>
          <p:nvSpPr>
            <p:cNvPr id="71" name="Google Shape;71;p1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74400" y="4233825"/>
            <a:ext cx="89547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 flipH="1">
            <a:off x="6756775" y="3195121"/>
            <a:ext cx="2148894" cy="825345"/>
            <a:chOff x="439473" y="1811648"/>
            <a:chExt cx="4206918" cy="1744179"/>
          </a:xfrm>
        </p:grpSpPr>
        <p:sp>
          <p:nvSpPr>
            <p:cNvPr id="120" name="Google Shape;120;p2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5405100" y="3926025"/>
            <a:ext cx="34272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s" sz="148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¡ LA REBELIÓN DE LAS MÁQUINAS ?</a:t>
            </a:r>
            <a:endParaRPr sz="1380" b="1" i="0" u="none" strike="noStrike" cap="none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9125" y="863975"/>
            <a:ext cx="3073170" cy="1843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1198" y="2379124"/>
            <a:ext cx="2707900" cy="1546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75" y="1397525"/>
            <a:ext cx="3645575" cy="23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>
            <a:spLocks noGrp="1"/>
          </p:cNvSpPr>
          <p:nvPr>
            <p:ph type="title"/>
          </p:nvPr>
        </p:nvSpPr>
        <p:spPr>
          <a:xfrm>
            <a:off x="291450" y="67175"/>
            <a:ext cx="85206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80"/>
              <a:t>Dos versiones de la actualidad de Inteligencia artificial ?</a:t>
            </a:r>
            <a:endParaRPr sz="20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80">
                <a:solidFill>
                  <a:srgbClr val="FF0000"/>
                </a:solidFill>
              </a:rPr>
              <a:t>			En cual estamos?</a:t>
            </a:r>
            <a:endParaRPr sz="208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380">
              <a:solidFill>
                <a:schemeClr val="lt2"/>
              </a:solidFill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0600" y="2779487"/>
            <a:ext cx="1702175" cy="1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291450" y="993525"/>
            <a:ext cx="4524900" cy="3136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405100" y="604550"/>
            <a:ext cx="3691800" cy="37407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307550" y="4129725"/>
            <a:ext cx="528900" cy="4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OP1</a:t>
            </a:r>
            <a:endParaRPr sz="1400" b="1" i="0" u="none" strike="noStrike" cap="none">
              <a:solidFill>
                <a:srgbClr val="FF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405100" y="4345250"/>
            <a:ext cx="528900" cy="400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OP2</a:t>
            </a:r>
            <a:endParaRPr sz="1400" b="1" i="0" u="none" strike="noStrike" cap="none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2" name="Google Shape;68;p1">
            <a:extLst>
              <a:ext uri="{FF2B5EF4-FFF2-40B4-BE49-F238E27FC236}">
                <a16:creationId xmlns:a16="http://schemas.microsoft.com/office/drawing/2014/main" id="{D06D7DBC-1DD4-170C-D9B6-AC33DBC6986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9;p1">
            <a:extLst>
              <a:ext uri="{FF2B5EF4-FFF2-40B4-BE49-F238E27FC236}">
                <a16:creationId xmlns:a16="http://schemas.microsoft.com/office/drawing/2014/main" id="{B6BB71CD-9031-A800-9DA3-B48726F66F7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311700" y="123875"/>
            <a:ext cx="85206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80"/>
              <a:t>  REALIDAD O CIENCIA FICCIÓN?</a:t>
            </a:r>
            <a:endParaRPr sz="24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80"/>
              <a:t>			Mas cerca de la</a:t>
            </a:r>
            <a:r>
              <a:rPr lang="es" sz="2480">
                <a:solidFill>
                  <a:srgbClr val="FF0000"/>
                </a:solidFill>
              </a:rPr>
              <a:t> opción 1!</a:t>
            </a:r>
            <a:endParaRPr sz="248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8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48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380">
              <a:solidFill>
                <a:schemeClr val="lt2"/>
              </a:solidFill>
            </a:endParaRPr>
          </a:p>
        </p:txBody>
      </p:sp>
      <p:pic>
        <p:nvPicPr>
          <p:cNvPr id="138" name="Google Shape;138;p3" descr="Parkour is the perfect sandbox for the Atlas team at Boston Dynamics to experiment with new behaviors. In this video our humanoid robots demonstrate their whole-body athletics, maintaining its balance through a variety of rapidly changing, high-energy activities. Through jumps, balance beams, and vaults, we demonstrate how we push Atlas to its limits to discover the next generation of mobility, perception, and athletic intelligence.&#10;&#10;How does Atlas do parkour? Go behind the scenes in the lab: https://youtu.be/EezdinoG4mk&#10;&#10;Parkour Atlas: https://youtu.be/LikxFZZO2sk&#10;More Parkour Atlas: https://youtu.be/_sBBaNYex3E&#10;&#10;#BostonDynamics #Atlas #Parkour" title="Atlas | Partners in Parkour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6125" y="1213738"/>
            <a:ext cx="3621376" cy="27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925" y="1260850"/>
            <a:ext cx="3580451" cy="23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632900" y="1804250"/>
            <a:ext cx="1303500" cy="767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0" y="3731275"/>
            <a:ext cx="1521000" cy="814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Optimización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90475" y="4469325"/>
            <a:ext cx="1303500" cy="767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Estadistica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995588" y="3754975"/>
            <a:ext cx="1303500" cy="767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Datos!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Muchos datos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2648679" y="4469325"/>
            <a:ext cx="1772100" cy="767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infraestructura computación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3"/>
          <p:cNvCxnSpPr>
            <a:stCxn id="141" idx="0"/>
            <a:endCxn id="140" idx="3"/>
          </p:cNvCxnSpPr>
          <p:nvPr/>
        </p:nvCxnSpPr>
        <p:spPr>
          <a:xfrm rot="10800000" flipH="1">
            <a:off x="760500" y="2459275"/>
            <a:ext cx="63300" cy="1272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3"/>
          <p:cNvCxnSpPr>
            <a:stCxn id="143" idx="1"/>
            <a:endCxn id="140" idx="4"/>
          </p:cNvCxnSpPr>
          <p:nvPr/>
        </p:nvCxnSpPr>
        <p:spPr>
          <a:xfrm rot="10800000">
            <a:off x="1284681" y="2571658"/>
            <a:ext cx="901800" cy="1295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3"/>
          <p:cNvCxnSpPr>
            <a:stCxn id="142" idx="0"/>
            <a:endCxn id="140" idx="4"/>
          </p:cNvCxnSpPr>
          <p:nvPr/>
        </p:nvCxnSpPr>
        <p:spPr>
          <a:xfrm rot="10800000">
            <a:off x="1284525" y="2571525"/>
            <a:ext cx="257700" cy="1897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8" name="Google Shape;148;p3"/>
          <p:cNvCxnSpPr>
            <a:stCxn id="144" idx="0"/>
            <a:endCxn id="140" idx="5"/>
          </p:cNvCxnSpPr>
          <p:nvPr/>
        </p:nvCxnSpPr>
        <p:spPr>
          <a:xfrm rot="10800000">
            <a:off x="1745529" y="2459325"/>
            <a:ext cx="1789200" cy="2010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9" name="Google Shape;149;p3"/>
          <p:cNvSpPr txBox="1"/>
          <p:nvPr/>
        </p:nvSpPr>
        <p:spPr>
          <a:xfrm>
            <a:off x="5573300" y="4109125"/>
            <a:ext cx="304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Aún así ya logramos hacer esto ….</a:t>
            </a:r>
            <a:endParaRPr sz="1400" b="0" i="0" u="none" strike="noStrike" cap="none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 b="1"/>
              <a:t>MACHINE LEARNING: SUPERVISED</a:t>
            </a:r>
            <a:endParaRPr b="1"/>
          </a:p>
        </p:txBody>
      </p:sp>
      <p:pic>
        <p:nvPicPr>
          <p:cNvPr id="198" name="Google Shape;19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650" y="861175"/>
            <a:ext cx="5846501" cy="30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 rotWithShape="1">
          <a:blip r:embed="rId4">
            <a:alphaModFix/>
          </a:blip>
          <a:srcRect l="10359" t="31161" r="8897" b="15770"/>
          <a:stretch/>
        </p:blipFill>
        <p:spPr>
          <a:xfrm>
            <a:off x="143300" y="3047625"/>
            <a:ext cx="2354523" cy="116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4050" y="1697550"/>
            <a:ext cx="2354525" cy="17483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8"/>
          <p:cNvCxnSpPr/>
          <p:nvPr/>
        </p:nvCxnSpPr>
        <p:spPr>
          <a:xfrm rot="10800000">
            <a:off x="866700" y="2865975"/>
            <a:ext cx="121800" cy="372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p8"/>
          <p:cNvSpPr/>
          <p:nvPr/>
        </p:nvSpPr>
        <p:spPr>
          <a:xfrm>
            <a:off x="29399" y="4318200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68;p1">
            <a:extLst>
              <a:ext uri="{FF2B5EF4-FFF2-40B4-BE49-F238E27FC236}">
                <a16:creationId xmlns:a16="http://schemas.microsoft.com/office/drawing/2014/main" id="{3EAA999D-C9B5-2032-77BA-1B507C00AB9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69;p1">
            <a:extLst>
              <a:ext uri="{FF2B5EF4-FFF2-40B4-BE49-F238E27FC236}">
                <a16:creationId xmlns:a16="http://schemas.microsoft.com/office/drawing/2014/main" id="{1BB8F634-AB09-4697-479A-A4A723F7C82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 b="1"/>
              <a:t>MACHINE LEARNING: </a:t>
            </a:r>
            <a:r>
              <a:rPr lang="es" sz="3800" b="1">
                <a:solidFill>
                  <a:srgbClr val="FF0000"/>
                </a:solidFill>
              </a:rPr>
              <a:t>UN</a:t>
            </a:r>
            <a:r>
              <a:rPr lang="es" b="1"/>
              <a:t>SUPERVISED</a:t>
            </a:r>
            <a:endParaRPr b="1"/>
          </a:p>
        </p:txBody>
      </p:sp>
      <p:pic>
        <p:nvPicPr>
          <p:cNvPr id="211" name="Google Shape;21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500" y="1218900"/>
            <a:ext cx="5569251" cy="24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/>
          <p:cNvPicPr preferRelativeResize="0"/>
          <p:nvPr/>
        </p:nvPicPr>
        <p:blipFill rotWithShape="1">
          <a:blip r:embed="rId4">
            <a:alphaModFix/>
          </a:blip>
          <a:srcRect l="43225" r="15223"/>
          <a:stretch/>
        </p:blipFill>
        <p:spPr>
          <a:xfrm>
            <a:off x="6348375" y="1218900"/>
            <a:ext cx="2830906" cy="13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68;p1">
            <a:extLst>
              <a:ext uri="{FF2B5EF4-FFF2-40B4-BE49-F238E27FC236}">
                <a16:creationId xmlns:a16="http://schemas.microsoft.com/office/drawing/2014/main" id="{B806A4FA-69BC-C129-2D1F-ECF93E08C0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">
            <a:extLst>
              <a:ext uri="{FF2B5EF4-FFF2-40B4-BE49-F238E27FC236}">
                <a16:creationId xmlns:a16="http://schemas.microsoft.com/office/drawing/2014/main" id="{D9F74EE4-8516-C2A5-A8D7-30E3342B7F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 b="1"/>
              <a:t>MACHINE LEARNING: </a:t>
            </a:r>
            <a:r>
              <a:rPr lang="es" sz="3800" b="1">
                <a:solidFill>
                  <a:srgbClr val="FF0000"/>
                </a:solidFill>
              </a:rPr>
              <a:t>DEEP LEARNING</a:t>
            </a:r>
            <a:endParaRPr b="1"/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7975" y="1017725"/>
            <a:ext cx="5732500" cy="326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" y="2835570"/>
            <a:ext cx="4591151" cy="16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 rot="-3988607" flipH="1">
            <a:off x="4142993" y="2662453"/>
            <a:ext cx="472790" cy="687480"/>
          </a:xfrm>
          <a:prstGeom prst="bentArrow">
            <a:avLst>
              <a:gd name="adj1" fmla="val 7419"/>
              <a:gd name="adj2" fmla="val 25525"/>
              <a:gd name="adj3" fmla="val 25000"/>
              <a:gd name="adj4" fmla="val 43750"/>
            </a:avLst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68;p1">
            <a:extLst>
              <a:ext uri="{FF2B5EF4-FFF2-40B4-BE49-F238E27FC236}">
                <a16:creationId xmlns:a16="http://schemas.microsoft.com/office/drawing/2014/main" id="{4AAB35E8-88D1-24D9-29A5-27C241BBB47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9;p1">
            <a:extLst>
              <a:ext uri="{FF2B5EF4-FFF2-40B4-BE49-F238E27FC236}">
                <a16:creationId xmlns:a16="http://schemas.microsoft.com/office/drawing/2014/main" id="{DA57D31E-CE54-6BDC-4B60-922C658CDF7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490250" y="752175"/>
            <a:ext cx="5035800" cy="18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680"/>
              <a:t>Ahora </a:t>
            </a:r>
            <a:r>
              <a:rPr lang="es" sz="3880"/>
              <a:t>TU </a:t>
            </a:r>
            <a:r>
              <a:rPr lang="es" sz="2680"/>
              <a:t>puedes construir tu propio modelo IA + M.L + DL</a:t>
            </a:r>
            <a:endParaRPr sz="26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0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080"/>
          </a:p>
        </p:txBody>
      </p:sp>
      <p:sp>
        <p:nvSpPr>
          <p:cNvPr id="361" name="Google Shape;361;p20"/>
          <p:cNvSpPr/>
          <p:nvPr/>
        </p:nvSpPr>
        <p:spPr>
          <a:xfrm>
            <a:off x="74400" y="4233825"/>
            <a:ext cx="89547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240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0"/>
          <p:cNvGrpSpPr/>
          <p:nvPr/>
        </p:nvGrpSpPr>
        <p:grpSpPr>
          <a:xfrm flipH="1">
            <a:off x="6756775" y="3195121"/>
            <a:ext cx="2148894" cy="825345"/>
            <a:chOff x="439473" y="1811648"/>
            <a:chExt cx="4206918" cy="1744179"/>
          </a:xfrm>
        </p:grpSpPr>
        <p:sp>
          <p:nvSpPr>
            <p:cNvPr id="365" name="Google Shape;365;p20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0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8" name="Google Shape;36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7300" y="693575"/>
            <a:ext cx="3158376" cy="332689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0"/>
          <p:cNvSpPr txBox="1">
            <a:spLocks noGrp="1"/>
          </p:cNvSpPr>
          <p:nvPr>
            <p:ph type="title"/>
          </p:nvPr>
        </p:nvSpPr>
        <p:spPr>
          <a:xfrm>
            <a:off x="109025" y="3335575"/>
            <a:ext cx="43575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380"/>
              <a:t>Es tu turno ...</a:t>
            </a:r>
            <a:endParaRPr sz="208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080"/>
          </a:p>
        </p:txBody>
      </p:sp>
      <p:pic>
        <p:nvPicPr>
          <p:cNvPr id="12" name="Google Shape;68;p1">
            <a:extLst>
              <a:ext uri="{FF2B5EF4-FFF2-40B4-BE49-F238E27FC236}">
                <a16:creationId xmlns:a16="http://schemas.microsoft.com/office/drawing/2014/main" id="{0124776E-F3D3-1767-F707-B82A47B94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730"/>
              <a:buNone/>
            </a:pPr>
            <a:r>
              <a:rPr lang="es" b="1"/>
              <a:t>Go to the action!: </a:t>
            </a:r>
            <a:r>
              <a:rPr lang="es" sz="3355" b="1">
                <a:solidFill>
                  <a:srgbClr val="FF0000"/>
                </a:solidFill>
              </a:rPr>
              <a:t>step 1</a:t>
            </a:r>
            <a:endParaRPr sz="3355" b="1">
              <a:solidFill>
                <a:srgbClr val="FF0000"/>
              </a:solidFill>
            </a:endParaRPr>
          </a:p>
        </p:txBody>
      </p:sp>
      <p:pic>
        <p:nvPicPr>
          <p:cNvPr id="375" name="Google Shape;3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725" y="1117025"/>
            <a:ext cx="2742850" cy="30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759" y="131200"/>
            <a:ext cx="446832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/>
        </p:nvSpPr>
        <p:spPr>
          <a:xfrm>
            <a:off x="3794125" y="3952175"/>
            <a:ext cx="486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Click aquí:</a:t>
            </a: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https://teachablemachine.withgoogle.com/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2863" y="4318150"/>
            <a:ext cx="1461136" cy="82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8;p1">
            <a:extLst>
              <a:ext uri="{FF2B5EF4-FFF2-40B4-BE49-F238E27FC236}">
                <a16:creationId xmlns:a16="http://schemas.microsoft.com/office/drawing/2014/main" id="{C3040B10-20D1-9FBD-E77D-BD16FA0C6A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50" y="1007763"/>
            <a:ext cx="2685075" cy="31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 txBox="1"/>
          <p:nvPr/>
        </p:nvSpPr>
        <p:spPr>
          <a:xfrm>
            <a:off x="26550" y="232275"/>
            <a:ext cx="48912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to the action!: </a:t>
            </a:r>
            <a:r>
              <a:rPr lang="es" sz="335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335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0484" y="1007775"/>
            <a:ext cx="5481515" cy="304642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68;p1">
            <a:extLst>
              <a:ext uri="{FF2B5EF4-FFF2-40B4-BE49-F238E27FC236}">
                <a16:creationId xmlns:a16="http://schemas.microsoft.com/office/drawing/2014/main" id="{A4DEEB35-B851-C7E7-4A61-B57DC8C6BC9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9;p1">
            <a:extLst>
              <a:ext uri="{FF2B5EF4-FFF2-40B4-BE49-F238E27FC236}">
                <a16:creationId xmlns:a16="http://schemas.microsoft.com/office/drawing/2014/main" id="{BF364377-3DF1-A132-96BC-129D17A8193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350" y="837700"/>
            <a:ext cx="2218150" cy="32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 txBox="1"/>
          <p:nvPr/>
        </p:nvSpPr>
        <p:spPr>
          <a:xfrm>
            <a:off x="0" y="0"/>
            <a:ext cx="53226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to the action!: </a:t>
            </a:r>
            <a:r>
              <a:rPr lang="es" sz="335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335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7850" y="807976"/>
            <a:ext cx="1700361" cy="324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6914" y="807975"/>
            <a:ext cx="1724197" cy="3248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9815" y="818842"/>
            <a:ext cx="1700360" cy="325628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68;p1">
            <a:extLst>
              <a:ext uri="{FF2B5EF4-FFF2-40B4-BE49-F238E27FC236}">
                <a16:creationId xmlns:a16="http://schemas.microsoft.com/office/drawing/2014/main" id="{21323F51-0281-CF15-E38C-AD387361A31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69;p1">
            <a:extLst>
              <a:ext uri="{FF2B5EF4-FFF2-40B4-BE49-F238E27FC236}">
                <a16:creationId xmlns:a16="http://schemas.microsoft.com/office/drawing/2014/main" id="{6FF835F4-ABAB-8907-6D82-A008542EA10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"/>
          <p:cNvSpPr txBox="1"/>
          <p:nvPr/>
        </p:nvSpPr>
        <p:spPr>
          <a:xfrm>
            <a:off x="0" y="0"/>
            <a:ext cx="9027300" cy="1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…. </a:t>
            </a:r>
            <a:r>
              <a:rPr lang="es" sz="335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ALGUNAS CONCLUSIONES </a:t>
            </a:r>
            <a:endParaRPr sz="335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5"/>
              <a:buFont typeface="Arial"/>
              <a:buNone/>
            </a:pPr>
            <a:r>
              <a:rPr lang="es" sz="3355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COMENTARIOS FINALES</a:t>
            </a:r>
            <a:endParaRPr sz="3355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0" y="4318188"/>
            <a:ext cx="91146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24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35244" y="4345438"/>
            <a:ext cx="1906085" cy="77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2863" y="4318150"/>
            <a:ext cx="1461136" cy="82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6445" y="4369738"/>
            <a:ext cx="735104" cy="72221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4"/>
          <p:cNvSpPr txBox="1"/>
          <p:nvPr/>
        </p:nvSpPr>
        <p:spPr>
          <a:xfrm>
            <a:off x="132250" y="1738100"/>
            <a:ext cx="6574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aprender </a:t>
            </a: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 inteligencia artificial tenemos que valorar sus fundamentos y explorar su integración con otras herramientas y aplicación en otros dominios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Muchas herramientas ya existen, tenemos que entender cómo funcionan y cuales son sus debilidades.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sabemos sus debilidades podemos </a:t>
            </a: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proponer nuevas tecnologías</a:t>
            </a: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la inteligencia artificial de forma inteligente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y solucionar problemas!.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TENEMOS UNA VENTAJA</a:t>
            </a: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ESTAMOS LLENOS DE PROBLEMAS!!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/>
          </p:nvPr>
        </p:nvSpPr>
        <p:spPr>
          <a:xfrm>
            <a:off x="127089" y="123575"/>
            <a:ext cx="8582586" cy="999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800" dirty="0"/>
              <a:t>Machine learning: an introduction</a:t>
            </a:r>
            <a:br>
              <a:rPr lang="en-US" sz="2800" dirty="0"/>
            </a:br>
            <a:endParaRPr lang="es-CO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6" name="Google Shape;66;p1"/>
          <p:cNvSpPr txBox="1">
            <a:spLocks noGrp="1"/>
          </p:cNvSpPr>
          <p:nvPr>
            <p:ph type="body" idx="1"/>
          </p:nvPr>
        </p:nvSpPr>
        <p:spPr>
          <a:xfrm>
            <a:off x="0" y="3323099"/>
            <a:ext cx="5781619" cy="8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/>
            <a:r>
              <a:rPr lang="en-US" altLang="en-US" sz="2800" b="1" i="1" u="sng" dirty="0">
                <a:solidFill>
                  <a:srgbClr val="404040"/>
                </a:solidFill>
                <a:latin typeface="Helvetica" panose="020B0604020202020204" pitchFamily="34" charset="0"/>
              </a:rPr>
              <a:t>Fabio Martínez, PhD</a:t>
            </a:r>
            <a:endParaRPr lang="en-US" altLang="en-US" sz="2800" b="1" i="1" u="sng" baseline="30000" dirty="0">
              <a:solidFill>
                <a:srgbClr val="404040"/>
              </a:solidFill>
              <a:latin typeface="Helvetica" panose="020B0604020202020204" pitchFamily="34" charset="0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9308"/>
              <a:buNone/>
            </a:pPr>
            <a:r>
              <a:rPr lang="es" sz="1447" dirty="0">
                <a:solidFill>
                  <a:srgbClr val="434343"/>
                </a:solidFill>
              </a:rPr>
              <a:t>famarcar</a:t>
            </a:r>
            <a:r>
              <a:rPr lang="en-US" sz="1447" dirty="0">
                <a:solidFill>
                  <a:srgbClr val="434343"/>
                </a:solidFill>
              </a:rPr>
              <a:t>@saber.uis.edu.co, famarcar@uis.edu.co</a:t>
            </a:r>
          </a:p>
        </p:txBody>
      </p:sp>
      <p:sp>
        <p:nvSpPr>
          <p:cNvPr id="67" name="Google Shape;67;p1"/>
          <p:cNvSpPr/>
          <p:nvPr/>
        </p:nvSpPr>
        <p:spPr>
          <a:xfrm>
            <a:off x="74400" y="4233825"/>
            <a:ext cx="8954700" cy="82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l="7345" t="14297" r="6133" b="10132"/>
          <a:stretch/>
        </p:blipFill>
        <p:spPr>
          <a:xfrm>
            <a:off x="109025" y="4261075"/>
            <a:ext cx="1872626" cy="7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7750" y="4233787"/>
            <a:ext cx="1435489" cy="82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"/>
          <p:cNvGrpSpPr/>
          <p:nvPr/>
        </p:nvGrpSpPr>
        <p:grpSpPr>
          <a:xfrm flipH="1">
            <a:off x="6756775" y="3195121"/>
            <a:ext cx="2148894" cy="825345"/>
            <a:chOff x="439473" y="1811648"/>
            <a:chExt cx="4206918" cy="1744179"/>
          </a:xfrm>
        </p:grpSpPr>
        <p:sp>
          <p:nvSpPr>
            <p:cNvPr id="71" name="Google Shape;71;p1"/>
            <p:cNvSpPr/>
            <p:nvPr/>
          </p:nvSpPr>
          <p:spPr>
            <a:xfrm>
              <a:off x="439473" y="3172127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rot="10800000">
              <a:off x="4262691" y="1811648"/>
              <a:ext cx="383700" cy="383700"/>
            </a:xfrm>
            <a:prstGeom prst="corner">
              <a:avLst>
                <a:gd name="adj1" fmla="val 5799"/>
                <a:gd name="adj2" fmla="val 62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65;p1">
            <a:extLst>
              <a:ext uri="{FF2B5EF4-FFF2-40B4-BE49-F238E27FC236}">
                <a16:creationId xmlns:a16="http://schemas.microsoft.com/office/drawing/2014/main" id="{B6A90222-B54B-40D2-A479-C08F9A477D56}"/>
              </a:ext>
            </a:extLst>
          </p:cNvPr>
          <p:cNvSpPr txBox="1">
            <a:spLocks/>
          </p:cNvSpPr>
          <p:nvPr/>
        </p:nvSpPr>
        <p:spPr>
          <a:xfrm>
            <a:off x="260457" y="1981734"/>
            <a:ext cx="8582586" cy="87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vo"/>
              <a:buNone/>
              <a:defRPr sz="44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7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lnSpc>
                <a:spcPct val="100000"/>
              </a:lnSpc>
              <a:buSzPts val="990"/>
            </a:pPr>
            <a:r>
              <a:rPr lang="es-ES" sz="4800" dirty="0">
                <a:solidFill>
                  <a:schemeClr val="tx2">
                    <a:lumMod val="75000"/>
                  </a:schemeClr>
                </a:solidFill>
              </a:rPr>
              <a:t>THANK YOU VERY MUCH !</a:t>
            </a:r>
          </a:p>
          <a:p>
            <a:pPr>
              <a:lnSpc>
                <a:spcPct val="100000"/>
              </a:lnSpc>
              <a:buSzPts val="990"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. . . It’s time to wake up</a:t>
            </a:r>
            <a:endParaRPr lang="es-E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Imagen 2" descr="Imagen que contiene persona, hombre, interior, edificio&#10;&#10;Descripción generada automáticamente">
            <a:extLst>
              <a:ext uri="{FF2B5EF4-FFF2-40B4-BE49-F238E27FC236}">
                <a16:creationId xmlns:a16="http://schemas.microsoft.com/office/drawing/2014/main" id="{ECC37ADB-769B-4685-8728-97E0D3B6B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757" y="2534728"/>
            <a:ext cx="2479918" cy="13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19041"/>
      </p:ext>
    </p:extLst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282</Words>
  <Application>Microsoft Office PowerPoint</Application>
  <PresentationFormat>Presentación en pantalla (16:9)</PresentationFormat>
  <Paragraphs>49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Raleway</vt:lpstr>
      <vt:lpstr>Arial</vt:lpstr>
      <vt:lpstr>Ovo</vt:lpstr>
      <vt:lpstr>Source Sans Pro</vt:lpstr>
      <vt:lpstr>Helvetica Neue</vt:lpstr>
      <vt:lpstr>Helvetica</vt:lpstr>
      <vt:lpstr>Plum</vt:lpstr>
      <vt:lpstr>Machine Learning: an introduction </vt:lpstr>
      <vt:lpstr>Dos versiones de la actualidad de Inteligencia artificial ?    En cual estamos? </vt:lpstr>
      <vt:lpstr>  REALIDAD O CIENCIA FICCIÓN?    Mas cerca de la opción 1!         </vt:lpstr>
      <vt:lpstr>MACHINE LEARNING: SUPERVISED</vt:lpstr>
      <vt:lpstr>MACHINE LEARNING: UNSUPERVISED</vt:lpstr>
      <vt:lpstr>MACHINE LEARNING: DEEP LEARNING</vt:lpstr>
      <vt:lpstr>Ahora TU puedes construir tu propio modelo IA + M.L + DL  </vt:lpstr>
      <vt:lpstr>Go to the action!: step 1</vt:lpstr>
      <vt:lpstr>Presentación de PowerPoint</vt:lpstr>
      <vt:lpstr>Presentación de PowerPoint</vt:lpstr>
      <vt:lpstr>Presentación de PowerPoint</vt:lpstr>
      <vt:lpstr>Machine learning: an introduction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reduction of expert bias on Gleason score classification via a semi-supervised deep learning strategy</dc:title>
  <dc:creator>Famarcar</dc:creator>
  <cp:lastModifiedBy>FABIO MARTINEZ CARRILLO</cp:lastModifiedBy>
  <cp:revision>41</cp:revision>
  <dcterms:modified xsi:type="dcterms:W3CDTF">2023-05-02T15:50:26Z</dcterms:modified>
</cp:coreProperties>
</file>