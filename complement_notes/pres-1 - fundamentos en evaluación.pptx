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91" r:id="rId23"/>
    <p:sldId id="288" r:id="rId24"/>
    <p:sldId id="292" r:id="rId25"/>
    <p:sldId id="293" r:id="rId26"/>
    <p:sldId id="289" r:id="rId27"/>
    <p:sldId id="290" r:id="rId28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Helvetica Neue" panose="020B0604020202020204" charset="0"/>
      <p:regular r:id="rId34"/>
      <p:bold r:id="rId35"/>
      <p:italic r:id="rId36"/>
      <p:boldItalic r:id="rId37"/>
    </p:embeddedFont>
    <p:embeddedFont>
      <p:font typeface="Raleway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AFITAu+x4XxJT82ZIcaqkjUlL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258BDC-868D-4809-9046-3BDF4663ADDB}">
  <a:tblStyle styleId="{BE258BDC-868D-4809-9046-3BDF4663ADD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4fa25ea6d6_5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24fa25ea6d6_5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4fa25ea6d6_5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g24fa25ea6d6_5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4fa25ea6d6_5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24fa25ea6d6_5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4fa25ea6d6_5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g24fa25ea6d6_5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4fa25ea6d6_5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g24fa25ea6d6_5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4fa25ea6d6_5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24fa25ea6d6_5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4fa25ea6d6_5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g24fa25ea6d6_5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4fa25ea6d6_5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24fa25ea6d6_5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4fa25ea6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g24fa25ea6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4fa25ea6d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g24fa25ea6d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4fa25ea6d6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" name="Google Shape;757;g24fa25ea6d6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4fa25ea6d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2" name="Google Shape;782;g24fa25ea6d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4fa25ea6d6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4fa25ea6d6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4fa25ea6d6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4" name="Google Shape;814;g24fa25ea6d6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e9728b444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1e9728b444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e9716978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4" name="Google Shape;864;g1e9716978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e9728b444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g1e9728b444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e9728b444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g1e9728b444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-ES"/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794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e968ce9d96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g1e968ce9d96_2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.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dirty="0"/>
              <a:t>.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600671" y="4988571"/>
            <a:ext cx="109856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67" b="1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603248" y="1287496"/>
            <a:ext cx="109856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vo"/>
              <a:buNone/>
              <a:defRPr sz="5867">
                <a:solidFill>
                  <a:srgbClr val="000000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2"/>
          </p:nvPr>
        </p:nvSpPr>
        <p:spPr>
          <a:xfrm>
            <a:off x="600671" y="3611595"/>
            <a:ext cx="10985600" cy="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8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8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800" b="1"/>
            </a:lvl5pPr>
            <a:lvl6pPr marL="2743200" lvl="5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19" name="Google Shape;19;p18" descr="logou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992" y="5917743"/>
            <a:ext cx="1134664" cy="1134664"/>
          </a:xfrm>
          <a:prstGeom prst="rect">
            <a:avLst/>
          </a:prstGeom>
          <a:noFill/>
          <a:ln>
            <a:noFill/>
          </a:ln>
          <a:effectLst>
            <a:reflection stA="50000" endPos="40000" fadeDir="5400012" sy="-100000" algn="bl" rotWithShape="0"/>
          </a:effectLst>
        </p:spPr>
      </p:pic>
      <p:pic>
        <p:nvPicPr>
          <p:cNvPr id="20" name="Google Shape;20;p18" descr="dESnZnpR7dll976hCvGPvSYECiSnTDStXa8f-7kL3SwQD3PXWjAD50RZG_F55nlhHR7RW2GzInCLhGo0qHIp3uPe5d3OMWocR-X_ACF1O2p6ul5MquJA5O3NCYBL5klX47UxVANQO2o.png"/>
          <p:cNvPicPr preferRelativeResize="0"/>
          <p:nvPr/>
        </p:nvPicPr>
        <p:blipFill rotWithShape="1">
          <a:blip r:embed="rId3">
            <a:alphaModFix amt="10000"/>
          </a:blip>
          <a:srcRect b="12730"/>
          <a:stretch/>
        </p:blipFill>
        <p:spPr>
          <a:xfrm>
            <a:off x="1806675" y="930375"/>
            <a:ext cx="8578752" cy="49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6000749" y="6409699"/>
            <a:ext cx="184400" cy="325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sz="1333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6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5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34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jp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0.jp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hyperlink" Target="https://metrics-reloaded.dkfz.d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0" y="164767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 dirty="0">
                <a:solidFill>
                  <a:srgbClr val="323F4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Fundamentos</a:t>
            </a:r>
            <a:r>
              <a:rPr lang="es-ES" sz="4800" b="1" dirty="0">
                <a:solidFill>
                  <a:srgbClr val="323F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evaluación de sistemas de aprendizaje profundo</a:t>
            </a:r>
            <a:endParaRPr sz="4800" b="1" dirty="0">
              <a:solidFill>
                <a:srgbClr val="323F4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561534" y="3090964"/>
            <a:ext cx="8659284" cy="195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609585" lvl="0" indent="-30479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733" u="sng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Fabio Martínez. PhD</a:t>
            </a:r>
            <a:endParaRPr sz="3733" u="sng" baseline="30000" dirty="0">
              <a:solidFill>
                <a:srgbClr val="40404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9"/>
              <a:buNone/>
            </a:pPr>
            <a:endParaRPr sz="1929" dirty="0">
              <a:solidFill>
                <a:srgbClr val="43434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609585" lvl="0" indent="-30479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Universidad Industrial de Santander - UIS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585" lvl="0" indent="-30479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133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</a:t>
            </a:r>
            <a:r>
              <a:rPr lang="es-ES" sz="2133" dirty="0" err="1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iomedical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sz="2133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</a:t>
            </a:r>
            <a:r>
              <a:rPr lang="es-ES" sz="2133" dirty="0" err="1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maging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es-ES" sz="2133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</a:t>
            </a:r>
            <a:r>
              <a:rPr lang="es-ES" sz="2133" dirty="0" err="1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ision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and </a:t>
            </a:r>
            <a:r>
              <a:rPr lang="es-ES" sz="2133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</a:t>
            </a:r>
            <a:r>
              <a:rPr lang="es-ES" sz="2133" dirty="0" err="1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earning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sz="2133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</a:t>
            </a:r>
            <a:r>
              <a:rPr lang="es-ES" sz="2133" dirty="0" err="1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aboratory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- BIVL</a:t>
            </a:r>
            <a:r>
              <a:rPr lang="es-ES" sz="2000" baseline="30000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</a:t>
            </a:r>
            <a:r>
              <a:rPr lang="es-ES" sz="2133" dirty="0">
                <a:solidFill>
                  <a:srgbClr val="40404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ab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9"/>
              <a:buNone/>
            </a:pPr>
            <a:r>
              <a:rPr lang="es-ES" sz="1929" dirty="0">
                <a:solidFill>
                  <a:srgbClr val="4343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	famarcar@saber.uis.edu.co, famarcar@uis.edu.co</a:t>
            </a:r>
            <a:endParaRPr sz="1929" dirty="0">
              <a:solidFill>
                <a:srgbClr val="43434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98" name="Google Shape;98;p1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C9B675AA-2E92-B08D-9726-A23511C87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05917A34-17C2-3C06-4A33-AF6F2597B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145367" y="5681433"/>
            <a:ext cx="119396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l="7345" t="14297" r="6133" b="10130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2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112" name="Google Shape;112;p2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0" y="1811642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Inteligencia artificial hoy: </a:t>
            </a:r>
            <a:endParaRPr sz="4800" b="1" dirty="0"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Modelos de </a:t>
            </a:r>
            <a:r>
              <a:rPr lang="es-ES" sz="4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sz="4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A4BF0677-1A21-010B-AE5C-0F23BB3EC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7F34C53F-3758-35F1-01D5-614AE9B72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3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121" name="Google Shape;121;p3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 rot="5400000">
            <a:off x="4497022" y="167249"/>
            <a:ext cx="2377053" cy="4024019"/>
          </a:xfrm>
          <a:prstGeom prst="trapezoid">
            <a:avLst>
              <a:gd name="adj" fmla="val 25000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3861012" y="-52317"/>
            <a:ext cx="8932520" cy="76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32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Aprendizaje de máquina: </a:t>
            </a:r>
            <a:r>
              <a:rPr lang="es-E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3535468" y="1646888"/>
            <a:ext cx="421658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        Modelo de datos.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Deep </a:t>
            </a:r>
            <a:r>
              <a:rPr lang="es-ES" sz="2400" b="1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sz="2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>
            <a:off x="2464238" y="1020936"/>
            <a:ext cx="1215000" cy="855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7" name="Google Shape;127;p3"/>
          <p:cNvCxnSpPr/>
          <p:nvPr/>
        </p:nvCxnSpPr>
        <p:spPr>
          <a:xfrm rot="10800000" flipH="1">
            <a:off x="1767479" y="2435716"/>
            <a:ext cx="1937400" cy="1359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128;p3"/>
          <p:cNvSpPr txBox="1"/>
          <p:nvPr/>
        </p:nvSpPr>
        <p:spPr>
          <a:xfrm>
            <a:off x="7889355" y="850323"/>
            <a:ext cx="37158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s-ES" sz="1333" b="1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Errror</a:t>
            </a:r>
            <a:r>
              <a:rPr lang="es-ES" sz="1333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= | Tumor – </a:t>
            </a:r>
            <a:r>
              <a:rPr lang="es-ES" sz="1333" b="1" i="0" u="none" strike="noStrike" cap="none" dirty="0">
                <a:solidFill>
                  <a:srgbClr val="F4B081"/>
                </a:solidFill>
                <a:latin typeface="Calibri"/>
                <a:ea typeface="Calibri"/>
                <a:cs typeface="Calibri"/>
                <a:sym typeface="Calibri"/>
              </a:rPr>
              <a:t>Estimación</a:t>
            </a:r>
            <a:r>
              <a:rPr lang="es-ES" sz="1333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|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s-ES" sz="1333" b="1" i="0" u="none" strike="noStrike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Errror</a:t>
            </a:r>
            <a:r>
              <a:rPr lang="es-ES" sz="1333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333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= | No Tumor </a:t>
            </a:r>
            <a:r>
              <a:rPr lang="es-ES" sz="1333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s-ES" sz="1333" b="1" i="0" u="none" strike="noStrike" cap="none" dirty="0">
                <a:solidFill>
                  <a:srgbClr val="F4B081"/>
                </a:solidFill>
                <a:latin typeface="Calibri"/>
                <a:ea typeface="Calibri"/>
                <a:cs typeface="Calibri"/>
                <a:sym typeface="Calibri"/>
              </a:rPr>
              <a:t>Estimación</a:t>
            </a:r>
            <a:r>
              <a:rPr lang="es-ES" sz="1333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333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849787" y="3528269"/>
            <a:ext cx="535242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 Deep </a:t>
            </a:r>
            <a:r>
              <a:rPr lang="es-ES" sz="1800" b="1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ES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 b="1" i="0" u="none" strike="noStrike" cap="none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algoritmos de </a:t>
            </a:r>
            <a:r>
              <a:rPr lang="es-E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aprendizaje de máquina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Requieren </a:t>
            </a:r>
            <a:r>
              <a:rPr lang="es-E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cantidad de datos 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lidiar con la variabilidad de las observaciones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Generalmente requieren </a:t>
            </a:r>
            <a:r>
              <a:rPr lang="es-E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Anotaciones 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seguir aprendizaje supervisado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774" y="3522849"/>
            <a:ext cx="773217" cy="830997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299" y="1251488"/>
            <a:ext cx="914938" cy="107171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2" name="Google Shape;13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0383" y="1598057"/>
            <a:ext cx="823412" cy="8556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3" name="Google Shape;13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98286" y="4099043"/>
            <a:ext cx="834513" cy="96705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70" y="485080"/>
            <a:ext cx="914938" cy="107171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5" name="Google Shape;1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846" y="1763118"/>
            <a:ext cx="914938" cy="107171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826" y="1964294"/>
            <a:ext cx="823412" cy="8556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5542" y="606831"/>
            <a:ext cx="823412" cy="8556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283" y="4023171"/>
            <a:ext cx="773217" cy="830997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6896" y="3558350"/>
            <a:ext cx="834513" cy="96705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0" name="Google Shape;14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2711" y="4514347"/>
            <a:ext cx="834513" cy="96705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712" y="4539427"/>
            <a:ext cx="773217" cy="830997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2" name="Google Shape;142;p3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"/>
          <p:cNvPicPr preferRelativeResize="0"/>
          <p:nvPr/>
        </p:nvPicPr>
        <p:blipFill rotWithShape="1">
          <a:blip r:embed="rId7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9">
            <a:alphaModFix/>
          </a:blip>
          <a:srcRect l="19025" t="28678" r="26112" b="12913"/>
          <a:stretch/>
        </p:blipFill>
        <p:spPr>
          <a:xfrm>
            <a:off x="7993433" y="1783424"/>
            <a:ext cx="1112940" cy="121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8668177" y="2017725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3"/>
          <p:cNvGrpSpPr/>
          <p:nvPr/>
        </p:nvGrpSpPr>
        <p:grpSpPr>
          <a:xfrm>
            <a:off x="9347754" y="1707982"/>
            <a:ext cx="1345964" cy="1358319"/>
            <a:chOff x="7970155" y="3092101"/>
            <a:chExt cx="2055535" cy="2074403"/>
          </a:xfrm>
        </p:grpSpPr>
        <p:grpSp>
          <p:nvGrpSpPr>
            <p:cNvPr id="149" name="Google Shape;149;p3"/>
            <p:cNvGrpSpPr/>
            <p:nvPr/>
          </p:nvGrpSpPr>
          <p:grpSpPr>
            <a:xfrm>
              <a:off x="7970155" y="3092101"/>
              <a:ext cx="2055535" cy="2055535"/>
              <a:chOff x="5363400" y="2493822"/>
              <a:chExt cx="1665075" cy="1665075"/>
            </a:xfrm>
          </p:grpSpPr>
          <p:sp>
            <p:nvSpPr>
              <p:cNvPr id="150" name="Google Shape;150;p3"/>
              <p:cNvSpPr/>
              <p:nvPr/>
            </p:nvSpPr>
            <p:spPr>
              <a:xfrm>
                <a:off x="5363400" y="2493825"/>
                <a:ext cx="1665000" cy="1665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1" name="Google Shape;151;p3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5363400" y="2493822"/>
                <a:ext cx="1665075" cy="166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2" name="Google Shape;152;p3"/>
            <p:cNvSpPr txBox="1"/>
            <p:nvPr/>
          </p:nvSpPr>
          <p:spPr>
            <a:xfrm>
              <a:off x="7984707" y="4612404"/>
              <a:ext cx="1328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AngioCT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p3"/>
          <p:cNvPicPr preferRelativeResize="0"/>
          <p:nvPr/>
        </p:nvPicPr>
        <p:blipFill rotWithShape="1">
          <a:blip r:embed="rId11">
            <a:alphaModFix/>
          </a:blip>
          <a:srcRect l="18491" t="12059" r="26293" b="8232"/>
          <a:stretch/>
        </p:blipFill>
        <p:spPr>
          <a:xfrm flipH="1">
            <a:off x="10361230" y="2576963"/>
            <a:ext cx="792171" cy="686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3"/>
          <p:cNvGrpSpPr/>
          <p:nvPr/>
        </p:nvGrpSpPr>
        <p:grpSpPr>
          <a:xfrm>
            <a:off x="9139695" y="3753310"/>
            <a:ext cx="3033023" cy="1909932"/>
            <a:chOff x="9003755" y="3308737"/>
            <a:chExt cx="3033023" cy="1909932"/>
          </a:xfrm>
        </p:grpSpPr>
        <p:grpSp>
          <p:nvGrpSpPr>
            <p:cNvPr id="155" name="Google Shape;155;p3"/>
            <p:cNvGrpSpPr/>
            <p:nvPr/>
          </p:nvGrpSpPr>
          <p:grpSpPr>
            <a:xfrm>
              <a:off x="9003755" y="3308737"/>
              <a:ext cx="3033023" cy="1909932"/>
              <a:chOff x="9003755" y="3308737"/>
              <a:chExt cx="3033023" cy="1909932"/>
            </a:xfrm>
          </p:grpSpPr>
          <p:pic>
            <p:nvPicPr>
              <p:cNvPr id="156" name="Google Shape;156;p3" descr="Una caricatura de una persona&#10;&#10;Descripción generada automáticamente con confianza baja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9003755" y="3308737"/>
                <a:ext cx="3033023" cy="19099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" name="Google Shape;157;p3"/>
              <p:cNvSpPr/>
              <p:nvPr/>
            </p:nvSpPr>
            <p:spPr>
              <a:xfrm>
                <a:off x="9342965" y="3522849"/>
                <a:ext cx="872067" cy="199197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1C305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600" b="1" i="0" u="none" strike="noStrike" cap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MENINGIOMA ?</a:t>
                </a:r>
                <a:endParaRPr sz="6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11002158" y="3470425"/>
                <a:ext cx="872067" cy="242089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1C305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600" b="1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GLIOMA ?</a:t>
                </a:r>
                <a:endParaRPr sz="600" b="1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9" name="Google Shape;159;p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 rot="-989062">
              <a:off x="9210782" y="4346582"/>
              <a:ext cx="418272" cy="431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 rot="-718373">
              <a:off x="10784404" y="4304650"/>
              <a:ext cx="406847" cy="4193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p3"/>
          <p:cNvSpPr/>
          <p:nvPr/>
        </p:nvSpPr>
        <p:spPr>
          <a:xfrm>
            <a:off x="8673541" y="2016616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"/>
          <p:cNvGrpSpPr/>
          <p:nvPr/>
        </p:nvGrpSpPr>
        <p:grpSpPr>
          <a:xfrm>
            <a:off x="9342390" y="1707982"/>
            <a:ext cx="1345964" cy="1358319"/>
            <a:chOff x="7970155" y="3092101"/>
            <a:chExt cx="2055535" cy="2074403"/>
          </a:xfrm>
        </p:grpSpPr>
        <p:grpSp>
          <p:nvGrpSpPr>
            <p:cNvPr id="163" name="Google Shape;163;p3"/>
            <p:cNvGrpSpPr/>
            <p:nvPr/>
          </p:nvGrpSpPr>
          <p:grpSpPr>
            <a:xfrm>
              <a:off x="7970155" y="3092101"/>
              <a:ext cx="2055535" cy="2055535"/>
              <a:chOff x="5363400" y="2493822"/>
              <a:chExt cx="1665075" cy="1665075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5363400" y="2493825"/>
                <a:ext cx="1665000" cy="1665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65" name="Google Shape;165;p3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5363400" y="2493822"/>
                <a:ext cx="1665075" cy="166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6" name="Google Shape;166;p3"/>
            <p:cNvSpPr txBox="1"/>
            <p:nvPr/>
          </p:nvSpPr>
          <p:spPr>
            <a:xfrm>
              <a:off x="7984707" y="4612404"/>
              <a:ext cx="1328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AngioCT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3"/>
          <p:cNvSpPr/>
          <p:nvPr/>
        </p:nvSpPr>
        <p:spPr>
          <a:xfrm>
            <a:off x="8668177" y="2016616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37D464E0-0E39-B783-EA58-B5B158D109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FE9E2E28-F3D6-D094-CA5B-F132CEAD5D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4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173" name="Google Shape;173;p4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4"/>
          <p:cNvSpPr/>
          <p:nvPr/>
        </p:nvSpPr>
        <p:spPr>
          <a:xfrm rot="5400000">
            <a:off x="4497022" y="167249"/>
            <a:ext cx="2377053" cy="4024019"/>
          </a:xfrm>
          <a:prstGeom prst="trapezoid">
            <a:avLst>
              <a:gd name="adj" fmla="val 25000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4073663" y="45490"/>
            <a:ext cx="8932520" cy="76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2667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Aprendizaje de máquina: </a:t>
            </a:r>
            <a:r>
              <a:rPr lang="es-ES" sz="2667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validación</a:t>
            </a:r>
            <a:endParaRPr sz="2667" b="1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3447606" y="3849468"/>
            <a:ext cx="439230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 Análisis de datos para </a:t>
            </a:r>
            <a:r>
              <a:rPr lang="es-ES" sz="1600" b="1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aprenden</a:t>
            </a:r>
            <a:r>
              <a:rPr lang="es-ES" sz="1600" b="0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es-ES" sz="1600" b="1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patrones</a:t>
            </a:r>
            <a:r>
              <a:rPr lang="es-ES" sz="1600" b="0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que estén correlacionados con información etiquetas. </a:t>
            </a:r>
            <a:endParaRPr sz="16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3535468" y="1646888"/>
            <a:ext cx="421658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2021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        Modelo de datos. 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    Deep </a:t>
            </a:r>
            <a:r>
              <a:rPr lang="es-ES" sz="2400" b="1" i="0" u="none" strike="noStrike" cap="none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Learning</a:t>
            </a:r>
            <a:endParaRPr sz="24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4"/>
          <p:cNvCxnSpPr/>
          <p:nvPr/>
        </p:nvCxnSpPr>
        <p:spPr>
          <a:xfrm>
            <a:off x="2464238" y="1020936"/>
            <a:ext cx="1215000" cy="855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4" name="Google Shape;184;p4"/>
          <p:cNvCxnSpPr/>
          <p:nvPr/>
        </p:nvCxnSpPr>
        <p:spPr>
          <a:xfrm rot="10800000" flipH="1">
            <a:off x="1767479" y="2435716"/>
            <a:ext cx="1937400" cy="1359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85" name="Google Shape;18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774" y="3522849"/>
            <a:ext cx="773100" cy="831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7299" y="1251488"/>
            <a:ext cx="915000" cy="1071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20383" y="1598057"/>
            <a:ext cx="823500" cy="855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8" name="Google Shape;188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98286" y="4099043"/>
            <a:ext cx="834600" cy="96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9" name="Google Shape;18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6270" y="485080"/>
            <a:ext cx="915000" cy="1071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846" y="1763118"/>
            <a:ext cx="915000" cy="1071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0826" y="1964294"/>
            <a:ext cx="823500" cy="855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5542" y="606831"/>
            <a:ext cx="823500" cy="855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283" y="4023171"/>
            <a:ext cx="773100" cy="831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86896" y="3558350"/>
            <a:ext cx="834600" cy="96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2711" y="4514347"/>
            <a:ext cx="834600" cy="96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712" y="4539427"/>
            <a:ext cx="773100" cy="831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97" name="Google Shape;197;p4"/>
          <p:cNvGrpSpPr/>
          <p:nvPr/>
        </p:nvGrpSpPr>
        <p:grpSpPr>
          <a:xfrm>
            <a:off x="8694714" y="2734607"/>
            <a:ext cx="1345964" cy="1358319"/>
            <a:chOff x="7970155" y="3092101"/>
            <a:chExt cx="2055535" cy="2074403"/>
          </a:xfrm>
        </p:grpSpPr>
        <p:grpSp>
          <p:nvGrpSpPr>
            <p:cNvPr id="198" name="Google Shape;198;p4"/>
            <p:cNvGrpSpPr/>
            <p:nvPr/>
          </p:nvGrpSpPr>
          <p:grpSpPr>
            <a:xfrm>
              <a:off x="7970155" y="3092101"/>
              <a:ext cx="2055535" cy="2055535"/>
              <a:chOff x="5363400" y="2493822"/>
              <a:chExt cx="1665075" cy="1665075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5363400" y="2493825"/>
                <a:ext cx="1665000" cy="1665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0" name="Google Shape;200;p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363400" y="2493822"/>
                <a:ext cx="1665075" cy="166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1" name="Google Shape;201;p4"/>
            <p:cNvSpPr txBox="1"/>
            <p:nvPr/>
          </p:nvSpPr>
          <p:spPr>
            <a:xfrm>
              <a:off x="7984707" y="4612404"/>
              <a:ext cx="1328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AngioCT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2" name="Google Shape;202;p4"/>
          <p:cNvPicPr preferRelativeResize="0"/>
          <p:nvPr/>
        </p:nvPicPr>
        <p:blipFill rotWithShape="1">
          <a:blip r:embed="rId10">
            <a:alphaModFix/>
          </a:blip>
          <a:srcRect l="17283" t="29230" r="25768" b="12199"/>
          <a:stretch/>
        </p:blipFill>
        <p:spPr>
          <a:xfrm>
            <a:off x="8001263" y="820417"/>
            <a:ext cx="1142374" cy="1217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/>
          <p:nvPr/>
        </p:nvSpPr>
        <p:spPr>
          <a:xfrm>
            <a:off x="8709815" y="1032331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4"/>
          <p:cNvCxnSpPr>
            <a:endCxn id="200" idx="1"/>
          </p:cNvCxnSpPr>
          <p:nvPr/>
        </p:nvCxnSpPr>
        <p:spPr>
          <a:xfrm>
            <a:off x="7697514" y="2237589"/>
            <a:ext cx="997200" cy="117000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5" name="Google Shape;205;p4"/>
          <p:cNvCxnSpPr/>
          <p:nvPr/>
        </p:nvCxnSpPr>
        <p:spPr>
          <a:xfrm rot="10800000" flipH="1">
            <a:off x="7697558" y="1800580"/>
            <a:ext cx="498578" cy="437074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6" name="Google Shape;206;p4"/>
          <p:cNvSpPr txBox="1"/>
          <p:nvPr/>
        </p:nvSpPr>
        <p:spPr>
          <a:xfrm>
            <a:off x="8476197" y="2242180"/>
            <a:ext cx="20580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s-ES" sz="1333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Clasificación de tumores</a:t>
            </a:r>
            <a:endParaRPr sz="1333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9259972" y="1285105"/>
            <a:ext cx="20580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s-ES" sz="1333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segmentación </a:t>
            </a:r>
            <a:endParaRPr sz="1333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8694722" y="4297355"/>
            <a:ext cx="20580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s-ES" sz="1333" b="1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sintesis</a:t>
            </a:r>
            <a:endParaRPr sz="1333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9" name="Google Shape;209;p4"/>
          <p:cNvCxnSpPr/>
          <p:nvPr/>
        </p:nvCxnSpPr>
        <p:spPr>
          <a:xfrm rot="10800000" flipH="1">
            <a:off x="7773672" y="2323088"/>
            <a:ext cx="626400" cy="390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795143EF-05EA-9875-C1AA-B1256CF5F9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4914A53D-0347-8F06-FDE0-45A693CA4B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/>
      <p:bldP spid="206" grpId="0"/>
      <p:bldP spid="207" grpId="0"/>
      <p:bldP spid="20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5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215" name="Google Shape;215;p5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5"/>
          <p:cNvSpPr txBox="1">
            <a:spLocks noGrp="1"/>
          </p:cNvSpPr>
          <p:nvPr>
            <p:ph type="title"/>
          </p:nvPr>
        </p:nvSpPr>
        <p:spPr>
          <a:xfrm>
            <a:off x="145367" y="843520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>
                <a:solidFill>
                  <a:srgbClr val="FF0000"/>
                </a:solidFill>
              </a:rPr>
              <a:t>CLASIFICACIÓN</a:t>
            </a:r>
            <a:endParaRPr sz="4800" b="1">
              <a:solidFill>
                <a:srgbClr val="FF0000"/>
              </a:solidFill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5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D10CDEB0-CCA4-1764-30EC-61370B967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4E7A0541-C693-7819-E523-F7315F774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4fa25ea6d6_5_71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g24fa25ea6d6_5_71"/>
          <p:cNvGrpSpPr/>
          <p:nvPr/>
        </p:nvGrpSpPr>
        <p:grpSpPr>
          <a:xfrm flipH="1">
            <a:off x="9008879" y="4260102"/>
            <a:ext cx="2865332" cy="1100403"/>
            <a:chOff x="439473" y="1811648"/>
            <a:chExt cx="4206918" cy="1744179"/>
          </a:xfrm>
        </p:grpSpPr>
        <p:sp>
          <p:nvSpPr>
            <p:cNvPr id="486" name="Google Shape;486;g24fa25ea6d6_5_71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24fa25ea6d6_5_71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g24fa25ea6d6_5_71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 dirty="0">
                <a:solidFill>
                  <a:schemeClr val="dk2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Evaluación del modelo de </a:t>
            </a:r>
            <a:r>
              <a:rPr lang="es-ES" sz="4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Clasificación. Usando un ejemplo.</a:t>
            </a:r>
            <a:endParaRPr sz="4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Raleway"/>
              <a:cs typeface="Calibri" panose="020F0502020204030204" pitchFamily="34" charset="0"/>
              <a:sym typeface="Raleway"/>
            </a:endParaRPr>
          </a:p>
        </p:txBody>
      </p:sp>
      <p:pic>
        <p:nvPicPr>
          <p:cNvPr id="489" name="Google Shape;489;g24fa25ea6d6_5_71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24fa25ea6d6_5_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24fa25ea6d6_5_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43639" y="3703485"/>
            <a:ext cx="3626578" cy="2114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24fa25ea6d6_5_71"/>
          <p:cNvSpPr txBox="1"/>
          <p:nvPr/>
        </p:nvSpPr>
        <p:spPr>
          <a:xfrm>
            <a:off x="4765091" y="746241"/>
            <a:ext cx="64419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Positivos (</a:t>
            </a:r>
            <a:r>
              <a:rPr lang="es-ES" sz="1867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True : 1; cáncer</a:t>
            </a:r>
            <a:r>
              <a:rPr lang="es-ES" sz="2400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</a:t>
            </a:r>
            <a:r>
              <a:rPr lang="es-ES" sz="1867" b="0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</a:t>
            </a:r>
            <a:r>
              <a:rPr lang="es-ES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y </a:t>
            </a:r>
            <a:r>
              <a:rPr lang="es-ES" sz="20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Negativos </a:t>
            </a:r>
            <a:r>
              <a:rPr lang="es-ES" sz="1867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</a:t>
            </a:r>
            <a:r>
              <a:rPr lang="es-ES" sz="1867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False: 0, no-</a:t>
            </a:r>
            <a:r>
              <a:rPr lang="es-ES" sz="1867" b="1" i="0" u="none" strike="noStrike" cap="none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cance</a:t>
            </a:r>
            <a:r>
              <a:rPr lang="es-ES" sz="1867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). </a:t>
            </a:r>
            <a:endParaRPr sz="2000" b="1" i="0" u="none" strike="noStrike" cap="none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lt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3" name="Google Shape;493;g24fa25ea6d6_5_71"/>
          <p:cNvSpPr txBox="1"/>
          <p:nvPr/>
        </p:nvSpPr>
        <p:spPr>
          <a:xfrm>
            <a:off x="0" y="5313039"/>
            <a:ext cx="119397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Figura tomadas de "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reloaded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." (</a:t>
            </a:r>
            <a:r>
              <a:rPr lang="es-ES" sz="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Maier-</a:t>
            </a:r>
            <a:r>
              <a:rPr lang="es-ES" sz="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Hein</a:t>
            </a:r>
            <a:r>
              <a:rPr lang="es-ES" sz="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L., et al. </a:t>
            </a:r>
            <a:r>
              <a:rPr lang="es-ES" sz="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arXiv:2206.01653).</a:t>
            </a: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D34B3B0-DF57-EF32-F759-12A4B41945A8}"/>
              </a:ext>
            </a:extLst>
          </p:cNvPr>
          <p:cNvGrpSpPr/>
          <p:nvPr/>
        </p:nvGrpSpPr>
        <p:grpSpPr>
          <a:xfrm>
            <a:off x="628891" y="1703139"/>
            <a:ext cx="2825197" cy="3185358"/>
            <a:chOff x="789678" y="908575"/>
            <a:chExt cx="2825197" cy="3185358"/>
          </a:xfrm>
        </p:grpSpPr>
        <p:pic>
          <p:nvPicPr>
            <p:cNvPr id="3" name="Google Shape;238;p6">
              <a:extLst>
                <a:ext uri="{FF2B5EF4-FFF2-40B4-BE49-F238E27FC236}">
                  <a16:creationId xmlns:a16="http://schemas.microsoft.com/office/drawing/2014/main" id="{54821992-C6D3-AD45-FAA6-21F95182E9D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94007" y="908575"/>
              <a:ext cx="1320868" cy="1463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239;p6">
              <a:extLst>
                <a:ext uri="{FF2B5EF4-FFF2-40B4-BE49-F238E27FC236}">
                  <a16:creationId xmlns:a16="http://schemas.microsoft.com/office/drawing/2014/main" id="{793B4A2E-E966-B772-D0B9-C518DD7C98A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91020" y="2457759"/>
              <a:ext cx="1320868" cy="1262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240;p6">
              <a:extLst>
                <a:ext uri="{FF2B5EF4-FFF2-40B4-BE49-F238E27FC236}">
                  <a16:creationId xmlns:a16="http://schemas.microsoft.com/office/drawing/2014/main" id="{E836C086-D017-EF62-768F-088085BCC59F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89678" y="923533"/>
              <a:ext cx="1413769" cy="1463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41;p6">
              <a:extLst>
                <a:ext uri="{FF2B5EF4-FFF2-40B4-BE49-F238E27FC236}">
                  <a16:creationId xmlns:a16="http://schemas.microsoft.com/office/drawing/2014/main" id="{EA8BB9AF-C22E-1509-BA3C-E7509CDC0A45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89679" y="2405298"/>
              <a:ext cx="1413769" cy="13239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242;p6">
              <a:extLst>
                <a:ext uri="{FF2B5EF4-FFF2-40B4-BE49-F238E27FC236}">
                  <a16:creationId xmlns:a16="http://schemas.microsoft.com/office/drawing/2014/main" id="{1AE0759B-B65D-8536-B30C-276FE4367062}"/>
                </a:ext>
              </a:extLst>
            </p:cNvPr>
            <p:cNvSpPr txBox="1"/>
            <p:nvPr/>
          </p:nvSpPr>
          <p:spPr>
            <a:xfrm>
              <a:off x="1114164" y="3786156"/>
              <a:ext cx="7647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tumor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43;p6">
              <a:extLst>
                <a:ext uri="{FF2B5EF4-FFF2-40B4-BE49-F238E27FC236}">
                  <a16:creationId xmlns:a16="http://schemas.microsoft.com/office/drawing/2014/main" id="{FB5F3428-E11B-ECC7-544B-2D9D0B4C5307}"/>
                </a:ext>
              </a:extLst>
            </p:cNvPr>
            <p:cNvSpPr txBox="1"/>
            <p:nvPr/>
          </p:nvSpPr>
          <p:spPr>
            <a:xfrm>
              <a:off x="2472659" y="3786156"/>
              <a:ext cx="957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no-tumor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F5AEA065-6103-E2DC-96CA-78AF2F4079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377C2A9C-C436-5B53-6FF7-7E51252B31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CB85166-D990-F3B6-7B21-CB3C2CDD7089}"/>
              </a:ext>
            </a:extLst>
          </p:cNvPr>
          <p:cNvSpPr/>
          <p:nvPr/>
        </p:nvSpPr>
        <p:spPr>
          <a:xfrm>
            <a:off x="655358" y="1718817"/>
            <a:ext cx="1410783" cy="149392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CCCBD7-AE96-70D1-A832-9F021075D68A}"/>
              </a:ext>
            </a:extLst>
          </p:cNvPr>
          <p:cNvSpPr/>
          <p:nvPr/>
        </p:nvSpPr>
        <p:spPr>
          <a:xfrm>
            <a:off x="2156701" y="1703139"/>
            <a:ext cx="1320868" cy="147911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957846-ED50-60C4-1196-77617212A9DF}"/>
              </a:ext>
            </a:extLst>
          </p:cNvPr>
          <p:cNvSpPr/>
          <p:nvPr/>
        </p:nvSpPr>
        <p:spPr>
          <a:xfrm>
            <a:off x="2161262" y="3248019"/>
            <a:ext cx="1316306" cy="126081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BBF3935-7B33-E3CE-D7E9-7262975DF864}"/>
              </a:ext>
            </a:extLst>
          </p:cNvPr>
          <p:cNvSpPr/>
          <p:nvPr/>
        </p:nvSpPr>
        <p:spPr>
          <a:xfrm>
            <a:off x="627721" y="3231066"/>
            <a:ext cx="1413769" cy="126693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39360DA-44ED-30EE-6957-FC6B3B167656}"/>
              </a:ext>
            </a:extLst>
          </p:cNvPr>
          <p:cNvSpPr txBox="1"/>
          <p:nvPr/>
        </p:nvSpPr>
        <p:spPr>
          <a:xfrm>
            <a:off x="4525340" y="3125221"/>
            <a:ext cx="6156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33"/>
              <a:buFont typeface="Noto Sans Symbols"/>
              <a:buChar char="✔"/>
            </a:pP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Falsos Negativos (</a:t>
            </a:r>
            <a:r>
              <a:rPr lang="es-ES" sz="1400" b="1" i="0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FN</a:t>
            </a: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). 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Regiones predichas como NO cáncer </a:t>
            </a:r>
            <a:r>
              <a:rPr lang="es-ES" sz="1400" b="1" i="0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que estaban asociadas con cáncer</a:t>
            </a:r>
            <a:r>
              <a:rPr lang="es-ES" sz="1400" b="0" i="0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  <a:endParaRPr lang="es-ES" sz="1400" b="1" i="0" u="none" strike="noStrike" cap="none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F8294E6-9B1F-9EE5-3F24-F257D77F52BE}"/>
              </a:ext>
            </a:extLst>
          </p:cNvPr>
          <p:cNvSpPr txBox="1"/>
          <p:nvPr/>
        </p:nvSpPr>
        <p:spPr>
          <a:xfrm>
            <a:off x="4525340" y="1392288"/>
            <a:ext cx="6156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33"/>
              <a:buFont typeface="Noto Sans Symbols"/>
              <a:buChar char="✔"/>
            </a:pP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Verdaderos Positivos (</a:t>
            </a:r>
            <a:r>
              <a:rPr lang="es-ES" sz="1400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TP</a:t>
            </a: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). 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Regiones predichas como cáncer que </a:t>
            </a:r>
            <a:r>
              <a:rPr lang="es-ES" sz="14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efectivamente</a:t>
            </a:r>
            <a:r>
              <a:rPr lang="es-ES" sz="1400" b="0" i="0" u="none" strike="noStrike" cap="none" dirty="0">
                <a:solidFill>
                  <a:schemeClr val="lt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estaban asociadas con cáncer.</a:t>
            </a:r>
            <a:endParaRPr lang="es-ES" sz="1400" b="1" i="0" u="none" strike="noStrike" cap="none" dirty="0">
              <a:solidFill>
                <a:schemeClr val="tx2">
                  <a:lumMod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466FD0-B22A-C92D-6CCB-9F20F05D1B31}"/>
              </a:ext>
            </a:extLst>
          </p:cNvPr>
          <p:cNvSpPr txBox="1"/>
          <p:nvPr/>
        </p:nvSpPr>
        <p:spPr>
          <a:xfrm>
            <a:off x="4478680" y="2029055"/>
            <a:ext cx="6156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33"/>
              <a:buFont typeface="Noto Sans Symbols"/>
              <a:buChar char="✔"/>
            </a:pP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Verdaderos Negativos (</a:t>
            </a:r>
            <a:r>
              <a:rPr lang="es-ES" sz="1400" b="1" i="0" u="none" strike="noStrike" cap="none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TN</a:t>
            </a: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).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Regiones predichas como NO cáncer que </a:t>
            </a:r>
            <a:r>
              <a:rPr lang="es-ES" sz="14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efectivamente</a:t>
            </a:r>
            <a:r>
              <a:rPr lang="es-ES" sz="1400" b="0" i="0" u="none" strike="noStrike" cap="none" dirty="0">
                <a:solidFill>
                  <a:schemeClr val="lt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estaban asociadas con cáncer</a:t>
            </a:r>
            <a:endParaRPr lang="es-ES" sz="1400" b="1" i="0" u="none" strike="noStrike" cap="none" dirty="0">
              <a:solidFill>
                <a:schemeClr val="tx2">
                  <a:lumMod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78D51D6-4605-0E92-CEA9-6A2DFD611CB2}"/>
              </a:ext>
            </a:extLst>
          </p:cNvPr>
          <p:cNvSpPr txBox="1"/>
          <p:nvPr/>
        </p:nvSpPr>
        <p:spPr>
          <a:xfrm>
            <a:off x="4525340" y="2601976"/>
            <a:ext cx="6156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33"/>
              <a:buFont typeface="Noto Sans Symbols"/>
              <a:buChar char="✔"/>
            </a:pP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Falsos Positivos (</a:t>
            </a:r>
            <a:r>
              <a:rPr lang="es-ES" sz="14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FP</a:t>
            </a:r>
            <a:r>
              <a:rPr lang="es-ES" sz="14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). </a:t>
            </a:r>
            <a:r>
              <a:rPr lang="es-ES" sz="1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Regiones predichas como cáncer que </a:t>
            </a:r>
            <a:r>
              <a:rPr lang="es-ES" sz="14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estaban asociadas con cáncer</a:t>
            </a:r>
            <a:endParaRPr lang="es-ES" sz="1100" b="0" i="0" u="none" strike="noStrike" cap="none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854B8BB-EE09-EEC5-DE0F-49DEED234311}"/>
              </a:ext>
            </a:extLst>
          </p:cNvPr>
          <p:cNvSpPr/>
          <p:nvPr/>
        </p:nvSpPr>
        <p:spPr>
          <a:xfrm>
            <a:off x="2156701" y="1709968"/>
            <a:ext cx="1320868" cy="1479119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0EB2B4A-B35F-C44C-961F-6CF777776905}"/>
              </a:ext>
            </a:extLst>
          </p:cNvPr>
          <p:cNvSpPr/>
          <p:nvPr/>
        </p:nvSpPr>
        <p:spPr>
          <a:xfrm>
            <a:off x="2156701" y="3232663"/>
            <a:ext cx="1316306" cy="126081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2D7FFE-E333-8045-52AA-97279C93BCAD}"/>
              </a:ext>
            </a:extLst>
          </p:cNvPr>
          <p:cNvSpPr/>
          <p:nvPr/>
        </p:nvSpPr>
        <p:spPr>
          <a:xfrm>
            <a:off x="665416" y="1719874"/>
            <a:ext cx="1410783" cy="1493926"/>
          </a:xfrm>
          <a:prstGeom prst="rect">
            <a:avLst/>
          </a:prstGeom>
          <a:noFill/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CDE4455-BF37-2B18-A18F-E6C42FD3DC75}"/>
              </a:ext>
            </a:extLst>
          </p:cNvPr>
          <p:cNvSpPr/>
          <p:nvPr/>
        </p:nvSpPr>
        <p:spPr>
          <a:xfrm>
            <a:off x="635008" y="3237890"/>
            <a:ext cx="1413769" cy="1266930"/>
          </a:xfrm>
          <a:prstGeom prst="rect">
            <a:avLst/>
          </a:prstGeom>
          <a:noFill/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7" grpId="0"/>
      <p:bldP spid="19" grpId="0"/>
      <p:bldP spid="21" grpId="0"/>
      <p:bldP spid="23" grpId="0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g24fa25ea6d6_5_87"/>
          <p:cNvGrpSpPr/>
          <p:nvPr/>
        </p:nvGrpSpPr>
        <p:grpSpPr>
          <a:xfrm flipH="1">
            <a:off x="9008879" y="4260102"/>
            <a:ext cx="2865332" cy="1100403"/>
            <a:chOff x="439473" y="1811648"/>
            <a:chExt cx="4206918" cy="1744179"/>
          </a:xfrm>
        </p:grpSpPr>
        <p:sp>
          <p:nvSpPr>
            <p:cNvPr id="500" name="Google Shape;500;g24fa25ea6d6_5_87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24fa25ea6d6_5_87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g24fa25ea6d6_5_87"/>
          <p:cNvSpPr txBox="1"/>
          <p:nvPr/>
        </p:nvSpPr>
        <p:spPr>
          <a:xfrm>
            <a:off x="6607330" y="2138952"/>
            <a:ext cx="5527500" cy="21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 err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Accuracy</a:t>
            </a:r>
            <a:r>
              <a:rPr lang="es-ES" sz="2667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(Exactitud) 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( </a:t>
            </a:r>
            <a:r>
              <a:rPr lang="es-ES" sz="2133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TP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+ </a:t>
            </a:r>
            <a:r>
              <a:rPr lang="es-ES" sz="2133" b="1" i="0" u="none" strike="noStrike" cap="none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TN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) / (</a:t>
            </a:r>
            <a:r>
              <a:rPr lang="es-ES" sz="2133" b="1" i="0" u="none" strike="noStrike" cap="none" dirty="0">
                <a:solidFill>
                  <a:schemeClr val="accent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TP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+ </a:t>
            </a:r>
            <a:r>
              <a:rPr lang="es-ES" sz="2133" b="1" i="0" u="none" strike="noStrike" cap="none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TN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+ </a:t>
            </a:r>
            <a:r>
              <a:rPr lang="es-ES" sz="2133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FP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+ </a:t>
            </a:r>
            <a:r>
              <a:rPr lang="es-ES" sz="2133" b="1" i="0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FN</a:t>
            </a:r>
            <a:r>
              <a:rPr lang="es-ES" sz="2133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</a:t>
            </a:r>
            <a:endParaRPr sz="14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Mide el número de etiquetas correctamente etiquetadas. </a:t>
            </a:r>
            <a:endParaRPr sz="14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hace distinción entre las etiquetas de cáncer correctamente clasificadas.</a:t>
            </a:r>
            <a:endParaRPr sz="14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03" name="Google Shape;503;g24fa25ea6d6_5_87"/>
          <p:cNvSpPr txBox="1"/>
          <p:nvPr/>
        </p:nvSpPr>
        <p:spPr>
          <a:xfrm>
            <a:off x="-4648" y="95872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 dirty="0">
                <a:solidFill>
                  <a:schemeClr val="dk2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Evaluación del modelo de </a:t>
            </a:r>
            <a:r>
              <a:rPr lang="es-ES" sz="4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Clasificación. Usando un ejemplo.</a:t>
            </a:r>
            <a:endParaRPr sz="4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Raleway"/>
              <a:cs typeface="Calibri" panose="020F0502020204030204" pitchFamily="34" charset="0"/>
              <a:sym typeface="Raleway"/>
            </a:endParaRPr>
          </a:p>
        </p:txBody>
      </p:sp>
      <p:graphicFrame>
        <p:nvGraphicFramePr>
          <p:cNvPr id="504" name="Google Shape;504;g24fa25ea6d6_5_87"/>
          <p:cNvGraphicFramePr/>
          <p:nvPr>
            <p:extLst>
              <p:ext uri="{D42A27DB-BD31-4B8C-83A1-F6EECF244321}">
                <p14:modId xmlns:p14="http://schemas.microsoft.com/office/powerpoint/2010/main" val="2674346834"/>
              </p:ext>
            </p:extLst>
          </p:nvPr>
        </p:nvGraphicFramePr>
        <p:xfrm>
          <a:off x="3127105" y="1037164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 dirty="0"/>
                        <a:t> </a:t>
                      </a:r>
                      <a:r>
                        <a:rPr lang="es-ES" sz="2400" b="1" u="none" strike="noStrike" cap="none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5" name="Google Shape;505;g24fa25ea6d6_5_87"/>
          <p:cNvSpPr txBox="1"/>
          <p:nvPr/>
        </p:nvSpPr>
        <p:spPr>
          <a:xfrm>
            <a:off x="121552" y="1072828"/>
            <a:ext cx="256367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6" name="Google Shape;506;g24fa25ea6d6_5_87"/>
          <p:cNvSpPr txBox="1"/>
          <p:nvPr/>
        </p:nvSpPr>
        <p:spPr>
          <a:xfrm>
            <a:off x="121552" y="1566272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7" name="Google Shape;507;g24fa25ea6d6_5_87"/>
          <p:cNvSpPr txBox="1"/>
          <p:nvPr/>
        </p:nvSpPr>
        <p:spPr>
          <a:xfrm>
            <a:off x="3942559" y="2619179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7/10</a:t>
            </a:r>
            <a:endParaRPr sz="14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70%</a:t>
            </a:r>
            <a:endParaRPr sz="2667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8" name="Google Shape;508;g24fa25ea6d6_5_87"/>
          <p:cNvSpPr/>
          <p:nvPr/>
        </p:nvSpPr>
        <p:spPr>
          <a:xfrm>
            <a:off x="3173640" y="932422"/>
            <a:ext cx="553800" cy="1169700"/>
          </a:xfrm>
          <a:prstGeom prst="ellipse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24fa25ea6d6_5_87"/>
          <p:cNvSpPr/>
          <p:nvPr/>
        </p:nvSpPr>
        <p:spPr>
          <a:xfrm>
            <a:off x="7191106" y="928535"/>
            <a:ext cx="553800" cy="1169700"/>
          </a:xfrm>
          <a:prstGeom prst="ellipse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24fa25ea6d6_5_87"/>
          <p:cNvSpPr/>
          <p:nvPr/>
        </p:nvSpPr>
        <p:spPr>
          <a:xfrm>
            <a:off x="10495854" y="928534"/>
            <a:ext cx="553800" cy="1169700"/>
          </a:xfrm>
          <a:prstGeom prst="ellipse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24fa25ea6d6_5_87"/>
          <p:cNvSpPr/>
          <p:nvPr/>
        </p:nvSpPr>
        <p:spPr>
          <a:xfrm>
            <a:off x="6355269" y="834778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24fa25ea6d6_5_87"/>
          <p:cNvSpPr/>
          <p:nvPr/>
        </p:nvSpPr>
        <p:spPr>
          <a:xfrm>
            <a:off x="8004824" y="958231"/>
            <a:ext cx="553800" cy="11697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24fa25ea6d6_5_87"/>
          <p:cNvSpPr/>
          <p:nvPr/>
        </p:nvSpPr>
        <p:spPr>
          <a:xfrm>
            <a:off x="8792980" y="859863"/>
            <a:ext cx="578100" cy="1268100"/>
          </a:xfrm>
          <a:prstGeom prst="ellipse">
            <a:avLst/>
          </a:prstGeom>
          <a:noFill/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24fa25ea6d6_5_87"/>
          <p:cNvSpPr/>
          <p:nvPr/>
        </p:nvSpPr>
        <p:spPr>
          <a:xfrm>
            <a:off x="3885812" y="884464"/>
            <a:ext cx="578100" cy="1222800"/>
          </a:xfrm>
          <a:prstGeom prst="ellipse">
            <a:avLst/>
          </a:prstGeom>
          <a:noFill/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24fa25ea6d6_5_87"/>
          <p:cNvSpPr/>
          <p:nvPr/>
        </p:nvSpPr>
        <p:spPr>
          <a:xfrm>
            <a:off x="4711271" y="846523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24fa25ea6d6_5_87"/>
          <p:cNvSpPr/>
          <p:nvPr/>
        </p:nvSpPr>
        <p:spPr>
          <a:xfrm>
            <a:off x="5561779" y="872412"/>
            <a:ext cx="603300" cy="12555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24fa25ea6d6_5_87"/>
          <p:cNvSpPr/>
          <p:nvPr/>
        </p:nvSpPr>
        <p:spPr>
          <a:xfrm>
            <a:off x="9604233" y="883113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24fa25ea6d6_5_87"/>
          <p:cNvSpPr/>
          <p:nvPr/>
        </p:nvSpPr>
        <p:spPr>
          <a:xfrm>
            <a:off x="106926" y="567853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g24fa25ea6d6_5_87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24fa25ea6d6_5_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g24fa25ea6d6_5_87"/>
          <p:cNvGrpSpPr/>
          <p:nvPr/>
        </p:nvGrpSpPr>
        <p:grpSpPr>
          <a:xfrm>
            <a:off x="925200" y="3851688"/>
            <a:ext cx="1774200" cy="1139791"/>
            <a:chOff x="925200" y="3851688"/>
            <a:chExt cx="1774200" cy="1139791"/>
          </a:xfrm>
        </p:grpSpPr>
        <p:pic>
          <p:nvPicPr>
            <p:cNvPr id="522" name="Google Shape;522;g24fa25ea6d6_5_87"/>
            <p:cNvPicPr preferRelativeResize="0"/>
            <p:nvPr/>
          </p:nvPicPr>
          <p:blipFill rotWithShape="1">
            <a:blip r:embed="rId5">
              <a:alphaModFix/>
            </a:blip>
            <a:srcRect b="14798"/>
            <a:stretch/>
          </p:blipFill>
          <p:spPr>
            <a:xfrm>
              <a:off x="1360700" y="3944587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g24fa25ea6d6_5_87"/>
            <p:cNvPicPr preferRelativeResize="0"/>
            <p:nvPr/>
          </p:nvPicPr>
          <p:blipFill rotWithShape="1">
            <a:blip r:embed="rId6">
              <a:alphaModFix/>
            </a:blip>
            <a:srcRect b="14798"/>
            <a:stretch/>
          </p:blipFill>
          <p:spPr>
            <a:xfrm>
              <a:off x="1941950" y="3944576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4" name="Google Shape;524;g24fa25ea6d6_5_87"/>
            <p:cNvGrpSpPr/>
            <p:nvPr/>
          </p:nvGrpSpPr>
          <p:grpSpPr>
            <a:xfrm>
              <a:off x="1254253" y="4422667"/>
              <a:ext cx="1097271" cy="568812"/>
              <a:chOff x="314750" y="2623025"/>
              <a:chExt cx="3920225" cy="1801750"/>
            </a:xfrm>
          </p:grpSpPr>
          <p:pic>
            <p:nvPicPr>
              <p:cNvPr id="525" name="Google Shape;525;g24fa25ea6d6_5_87"/>
              <p:cNvPicPr preferRelativeResize="0"/>
              <p:nvPr/>
            </p:nvPicPr>
            <p:blipFill rotWithShape="1">
              <a:blip r:embed="rId7">
                <a:alphaModFix/>
              </a:blip>
              <a:srcRect l="3546" t="7748" r="10762" b="12771"/>
              <a:stretch/>
            </p:blipFill>
            <p:spPr>
              <a:xfrm>
                <a:off x="314750" y="2623025"/>
                <a:ext cx="3920225" cy="1801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6" name="Google Shape;526;g24fa25ea6d6_5_87"/>
              <p:cNvPicPr preferRelativeResize="0"/>
              <p:nvPr/>
            </p:nvPicPr>
            <p:blipFill rotWithShape="1">
              <a:blip r:embed="rId8">
                <a:alphaModFix/>
              </a:blip>
              <a:srcRect l="9099" t="13485" r="13127" b="6996"/>
              <a:stretch/>
            </p:blipFill>
            <p:spPr>
              <a:xfrm>
                <a:off x="1112750" y="3057875"/>
                <a:ext cx="2865325" cy="923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27" name="Google Shape;527;g24fa25ea6d6_5_87"/>
            <p:cNvCxnSpPr/>
            <p:nvPr/>
          </p:nvCxnSpPr>
          <p:spPr>
            <a:xfrm>
              <a:off x="925200" y="4330325"/>
              <a:ext cx="17742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8" name="Google Shape;528;g24fa25ea6d6_5_87"/>
            <p:cNvSpPr txBox="1"/>
            <p:nvPr/>
          </p:nvSpPr>
          <p:spPr>
            <a:xfrm>
              <a:off x="1640738" y="3851688"/>
              <a:ext cx="32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9" name="Google Shape;529;g24fa25ea6d6_5_8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0549" y="2528627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9BD15F94-6527-7AAD-D28E-1701CF1D4E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ECD789E-BF32-8730-BCCB-6886BADBE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8222" y="5876942"/>
            <a:ext cx="3350481" cy="754778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149C4504-B0FD-5CD8-F81C-A22498FDB174}"/>
              </a:ext>
            </a:extLst>
          </p:cNvPr>
          <p:cNvGrpSpPr/>
          <p:nvPr/>
        </p:nvGrpSpPr>
        <p:grpSpPr>
          <a:xfrm>
            <a:off x="3704279" y="4768629"/>
            <a:ext cx="3947378" cy="887674"/>
            <a:chOff x="3704279" y="4768629"/>
            <a:chExt cx="3947378" cy="887674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07FB598E-8AC3-835E-EA17-1FBCA7D783CC}"/>
                </a:ext>
              </a:extLst>
            </p:cNvPr>
            <p:cNvGrpSpPr/>
            <p:nvPr/>
          </p:nvGrpSpPr>
          <p:grpSpPr>
            <a:xfrm>
              <a:off x="3704279" y="4787908"/>
              <a:ext cx="3947378" cy="868395"/>
              <a:chOff x="3712485" y="4768629"/>
              <a:chExt cx="3947378" cy="868395"/>
            </a:xfrm>
          </p:grpSpPr>
          <p:pic>
            <p:nvPicPr>
              <p:cNvPr id="6" name="Google Shape;239;p6">
                <a:extLst>
                  <a:ext uri="{FF2B5EF4-FFF2-40B4-BE49-F238E27FC236}">
                    <a16:creationId xmlns:a16="http://schemas.microsoft.com/office/drawing/2014/main" id="{D7756D46-E7FD-99F7-DC7C-944266DFBC43}"/>
                  </a:ext>
                </a:extLst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6735110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41;p6">
                <a:extLst>
                  <a:ext uri="{FF2B5EF4-FFF2-40B4-BE49-F238E27FC236}">
                    <a16:creationId xmlns:a16="http://schemas.microsoft.com/office/drawing/2014/main" id="{47BFF35A-6C57-8052-6E9B-CCBEEB0436D0}"/>
                  </a:ext>
                </a:extLst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3712485" y="4768629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39;p6">
                <a:extLst>
                  <a:ext uri="{FF2B5EF4-FFF2-40B4-BE49-F238E27FC236}">
                    <a16:creationId xmlns:a16="http://schemas.microsoft.com/office/drawing/2014/main" id="{34038657-5A67-2239-7B2A-D355B698FE26}"/>
                  </a:ext>
                </a:extLst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5737950" y="480653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41;p6">
                <a:extLst>
                  <a:ext uri="{FF2B5EF4-FFF2-40B4-BE49-F238E27FC236}">
                    <a16:creationId xmlns:a16="http://schemas.microsoft.com/office/drawing/2014/main" id="{D76BFDFC-9181-CD1F-52FD-9377B7257F3C}"/>
                  </a:ext>
                </a:extLst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4711271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EE2D58CA-FD6E-8B6B-7208-2246F6441F82}"/>
                </a:ext>
              </a:extLst>
            </p:cNvPr>
            <p:cNvSpPr/>
            <p:nvPr/>
          </p:nvSpPr>
          <p:spPr>
            <a:xfrm>
              <a:off x="3712485" y="4768629"/>
              <a:ext cx="924753" cy="83049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2CB9C3A-A031-4C0D-3646-DE1C88CF3BCD}"/>
                </a:ext>
              </a:extLst>
            </p:cNvPr>
            <p:cNvSpPr/>
            <p:nvPr/>
          </p:nvSpPr>
          <p:spPr>
            <a:xfrm>
              <a:off x="4709645" y="4791619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B696677-FEB6-5F3B-AC81-ABB39882B61B}"/>
                </a:ext>
              </a:extLst>
            </p:cNvPr>
            <p:cNvSpPr/>
            <p:nvPr/>
          </p:nvSpPr>
          <p:spPr>
            <a:xfrm>
              <a:off x="5729744" y="4806532"/>
              <a:ext cx="924753" cy="83049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C1E7CD8-A71D-ECCB-0FD9-6B9C87E29895}"/>
                </a:ext>
              </a:extLst>
            </p:cNvPr>
            <p:cNvSpPr/>
            <p:nvPr/>
          </p:nvSpPr>
          <p:spPr>
            <a:xfrm>
              <a:off x="6726904" y="4794600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0" name="Google Shape;513;g24fa25ea6d6_5_87">
            <a:extLst>
              <a:ext uri="{FF2B5EF4-FFF2-40B4-BE49-F238E27FC236}">
                <a16:creationId xmlns:a16="http://schemas.microsoft.com/office/drawing/2014/main" id="{4CA51827-8996-53FC-E58E-6BBF8CFEADE1}"/>
              </a:ext>
            </a:extLst>
          </p:cNvPr>
          <p:cNvSpPr/>
          <p:nvPr/>
        </p:nvSpPr>
        <p:spPr>
          <a:xfrm>
            <a:off x="8792980" y="859812"/>
            <a:ext cx="578100" cy="12681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514;g24fa25ea6d6_5_87">
            <a:extLst>
              <a:ext uri="{FF2B5EF4-FFF2-40B4-BE49-F238E27FC236}">
                <a16:creationId xmlns:a16="http://schemas.microsoft.com/office/drawing/2014/main" id="{FB8238AC-E5C4-9950-EDD7-4EEE28B4959C}"/>
              </a:ext>
            </a:extLst>
          </p:cNvPr>
          <p:cNvSpPr/>
          <p:nvPr/>
        </p:nvSpPr>
        <p:spPr>
          <a:xfrm>
            <a:off x="3885812" y="884413"/>
            <a:ext cx="578100" cy="12228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g24fa25ea6d6_5_129"/>
          <p:cNvGrpSpPr/>
          <p:nvPr/>
        </p:nvGrpSpPr>
        <p:grpSpPr>
          <a:xfrm flipH="1">
            <a:off x="9008879" y="4260102"/>
            <a:ext cx="2865332" cy="1100403"/>
            <a:chOff x="439473" y="1811648"/>
            <a:chExt cx="4206918" cy="1744179"/>
          </a:xfrm>
        </p:grpSpPr>
        <p:sp>
          <p:nvSpPr>
            <p:cNvPr id="536" name="Google Shape;536;g24fa25ea6d6_5_129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24fa25ea6d6_5_129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g24fa25ea6d6_5_129"/>
          <p:cNvSpPr txBox="1"/>
          <p:nvPr/>
        </p:nvSpPr>
        <p:spPr>
          <a:xfrm>
            <a:off x="6580821" y="2672968"/>
            <a:ext cx="5527500" cy="2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RECALL – SENSITIVITY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(SENSITIVIDAD)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( TP ) / (TP + FN)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Pondera el número de etiquetas correctas de cáncer con respecto al número de  </a:t>
            </a: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falsos negativos</a:t>
            </a:r>
            <a:r>
              <a:rPr lang="es-ES" sz="2133" b="0" i="0" u="none" strike="noStrike" cap="none" dirty="0">
                <a:solidFill>
                  <a:schemeClr val="lt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39" name="Google Shape;539;g24fa25ea6d6_5_129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 dirty="0">
                <a:solidFill>
                  <a:schemeClr val="dk2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Evaluación del modelo de </a:t>
            </a:r>
            <a:r>
              <a:rPr lang="es-ES" sz="4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Clasificación. Usando un ejemplo.</a:t>
            </a:r>
            <a:endParaRPr sz="4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Raleway"/>
              <a:cs typeface="Calibri" panose="020F0502020204030204" pitchFamily="34" charset="0"/>
              <a:sym typeface="Raleway"/>
            </a:endParaRPr>
          </a:p>
        </p:txBody>
      </p:sp>
      <p:sp>
        <p:nvSpPr>
          <p:cNvPr id="540" name="Google Shape;540;g24fa25ea6d6_5_129"/>
          <p:cNvSpPr txBox="1"/>
          <p:nvPr/>
        </p:nvSpPr>
        <p:spPr>
          <a:xfrm>
            <a:off x="4210728" y="2808267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3/4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75%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541" name="Google Shape;541;g24fa25ea6d6_5_129"/>
          <p:cNvGraphicFramePr/>
          <p:nvPr/>
        </p:nvGraphicFramePr>
        <p:xfrm>
          <a:off x="3127105" y="1037164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  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2" name="Google Shape;542;g24fa25ea6d6_5_129"/>
          <p:cNvSpPr txBox="1"/>
          <p:nvPr/>
        </p:nvSpPr>
        <p:spPr>
          <a:xfrm>
            <a:off x="99200" y="1084850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24fa25ea6d6_5_129"/>
          <p:cNvSpPr txBox="1"/>
          <p:nvPr/>
        </p:nvSpPr>
        <p:spPr>
          <a:xfrm>
            <a:off x="99200" y="1578972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24fa25ea6d6_5_129"/>
          <p:cNvSpPr/>
          <p:nvPr/>
        </p:nvSpPr>
        <p:spPr>
          <a:xfrm>
            <a:off x="3173640" y="928534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24fa25ea6d6_5_129"/>
          <p:cNvSpPr/>
          <p:nvPr/>
        </p:nvSpPr>
        <p:spPr>
          <a:xfrm>
            <a:off x="7191106" y="924647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24fa25ea6d6_5_129"/>
          <p:cNvSpPr/>
          <p:nvPr/>
        </p:nvSpPr>
        <p:spPr>
          <a:xfrm>
            <a:off x="10495854" y="928534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24fa25ea6d6_5_129"/>
          <p:cNvSpPr/>
          <p:nvPr/>
        </p:nvSpPr>
        <p:spPr>
          <a:xfrm>
            <a:off x="8004824" y="958231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24fa25ea6d6_5_129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9" name="Google Shape;549;g24fa25ea6d6_5_129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24fa25ea6d6_5_1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24fa25ea6d6_5_129"/>
          <p:cNvPicPr preferRelativeResize="0"/>
          <p:nvPr/>
        </p:nvPicPr>
        <p:blipFill rotWithShape="1">
          <a:blip r:embed="rId5">
            <a:alphaModFix/>
          </a:blip>
          <a:srcRect t="5926"/>
          <a:stretch/>
        </p:blipFill>
        <p:spPr>
          <a:xfrm>
            <a:off x="1338050" y="4092575"/>
            <a:ext cx="1004425" cy="11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24fa25ea6d6_5_1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0549" y="2528627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DA03E635-DAA4-F810-B32D-9FF9491719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8091E8A8-2D77-22F5-06DD-8925B421AC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904EE5AF-40D9-868F-2F2B-09AF3D87C099}"/>
              </a:ext>
            </a:extLst>
          </p:cNvPr>
          <p:cNvGrpSpPr/>
          <p:nvPr/>
        </p:nvGrpSpPr>
        <p:grpSpPr>
          <a:xfrm>
            <a:off x="3704279" y="4768629"/>
            <a:ext cx="3947378" cy="887674"/>
            <a:chOff x="3704279" y="4768629"/>
            <a:chExt cx="3947378" cy="887674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5A8B5B40-C515-77F5-CACB-A3A388A51CAC}"/>
                </a:ext>
              </a:extLst>
            </p:cNvPr>
            <p:cNvGrpSpPr/>
            <p:nvPr/>
          </p:nvGrpSpPr>
          <p:grpSpPr>
            <a:xfrm>
              <a:off x="3704279" y="4787908"/>
              <a:ext cx="3947378" cy="868395"/>
              <a:chOff x="3712485" y="4768629"/>
              <a:chExt cx="3947378" cy="868395"/>
            </a:xfrm>
          </p:grpSpPr>
          <p:pic>
            <p:nvPicPr>
              <p:cNvPr id="20" name="Google Shape;239;p6">
                <a:extLst>
                  <a:ext uri="{FF2B5EF4-FFF2-40B4-BE49-F238E27FC236}">
                    <a16:creationId xmlns:a16="http://schemas.microsoft.com/office/drawing/2014/main" id="{667F6DD8-9BC2-D1E6-817F-EA362BBC85B1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735110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41;p6">
                <a:extLst>
                  <a:ext uri="{FF2B5EF4-FFF2-40B4-BE49-F238E27FC236}">
                    <a16:creationId xmlns:a16="http://schemas.microsoft.com/office/drawing/2014/main" id="{6D417898-1CFB-CCD3-FCC4-108458D78FAA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712485" y="4768629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39;p6">
                <a:extLst>
                  <a:ext uri="{FF2B5EF4-FFF2-40B4-BE49-F238E27FC236}">
                    <a16:creationId xmlns:a16="http://schemas.microsoft.com/office/drawing/2014/main" id="{824C6288-C019-FB75-3278-306AAFD455B2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737950" y="480653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41;p6">
                <a:extLst>
                  <a:ext uri="{FF2B5EF4-FFF2-40B4-BE49-F238E27FC236}">
                    <a16:creationId xmlns:a16="http://schemas.microsoft.com/office/drawing/2014/main" id="{0979C44D-F1FF-9B21-0F80-7D66E0181734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4711271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EB4FEEB-A929-BBCA-2B5D-BE961F46F7EF}"/>
                </a:ext>
              </a:extLst>
            </p:cNvPr>
            <p:cNvSpPr/>
            <p:nvPr/>
          </p:nvSpPr>
          <p:spPr>
            <a:xfrm>
              <a:off x="3712485" y="4768629"/>
              <a:ext cx="924753" cy="83049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1AB5806E-B827-166D-6A52-549F40AA7414}"/>
                </a:ext>
              </a:extLst>
            </p:cNvPr>
            <p:cNvSpPr/>
            <p:nvPr/>
          </p:nvSpPr>
          <p:spPr>
            <a:xfrm>
              <a:off x="4709645" y="4791619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3129421-ECFE-B983-5889-33A23719A8B3}"/>
                </a:ext>
              </a:extLst>
            </p:cNvPr>
            <p:cNvSpPr/>
            <p:nvPr/>
          </p:nvSpPr>
          <p:spPr>
            <a:xfrm>
              <a:off x="5729744" y="4806532"/>
              <a:ext cx="924753" cy="83049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48F2244-9B9F-2EC0-EE7D-F26C8932E2E7}"/>
                </a:ext>
              </a:extLst>
            </p:cNvPr>
            <p:cNvSpPr/>
            <p:nvPr/>
          </p:nvSpPr>
          <p:spPr>
            <a:xfrm>
              <a:off x="6726904" y="4794600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g24fa25ea6d6_5_152"/>
          <p:cNvGrpSpPr/>
          <p:nvPr/>
        </p:nvGrpSpPr>
        <p:grpSpPr>
          <a:xfrm flipH="1">
            <a:off x="9008879" y="4260102"/>
            <a:ext cx="2865332" cy="1100403"/>
            <a:chOff x="439473" y="1811648"/>
            <a:chExt cx="4206918" cy="1744179"/>
          </a:xfrm>
        </p:grpSpPr>
        <p:sp>
          <p:nvSpPr>
            <p:cNvPr id="559" name="Google Shape;559;g24fa25ea6d6_5_152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24fa25ea6d6_5_152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g24fa25ea6d6_5_152"/>
          <p:cNvSpPr txBox="1"/>
          <p:nvPr/>
        </p:nvSpPr>
        <p:spPr>
          <a:xfrm>
            <a:off x="6654497" y="2651741"/>
            <a:ext cx="55275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PRECISION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( TP ) / (TP + FP)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Pondera el número de etiquetas correctas de cáncer con respecto al número de  </a:t>
            </a: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falsos positivos</a:t>
            </a:r>
            <a:r>
              <a:rPr lang="es-ES" sz="2133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 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62" name="Google Shape;562;g24fa25ea6d6_5_152"/>
          <p:cNvSpPr txBox="1"/>
          <p:nvPr/>
        </p:nvSpPr>
        <p:spPr>
          <a:xfrm>
            <a:off x="0" y="172480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 dirty="0">
                <a:solidFill>
                  <a:schemeClr val="dk2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Evaluación del modelo de </a:t>
            </a:r>
            <a:r>
              <a:rPr lang="es-ES" sz="4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Clasificación. Usando un ejemplo.</a:t>
            </a:r>
            <a:endParaRPr sz="4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Raleway"/>
              <a:cs typeface="Calibri" panose="020F0502020204030204" pitchFamily="34" charset="0"/>
              <a:sym typeface="Raleway"/>
            </a:endParaRPr>
          </a:p>
        </p:txBody>
      </p:sp>
      <p:sp>
        <p:nvSpPr>
          <p:cNvPr id="563" name="Google Shape;563;g24fa25ea6d6_5_152"/>
          <p:cNvSpPr txBox="1"/>
          <p:nvPr/>
        </p:nvSpPr>
        <p:spPr>
          <a:xfrm>
            <a:off x="4187055" y="2714007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3/5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60%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564" name="Google Shape;564;g24fa25ea6d6_5_152"/>
          <p:cNvGraphicFramePr/>
          <p:nvPr/>
        </p:nvGraphicFramePr>
        <p:xfrm>
          <a:off x="3127105" y="1037164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5" name="Google Shape;565;g24fa25ea6d6_5_152"/>
          <p:cNvSpPr txBox="1"/>
          <p:nvPr/>
        </p:nvSpPr>
        <p:spPr>
          <a:xfrm>
            <a:off x="247136" y="1084314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66" name="Google Shape;566;g24fa25ea6d6_5_152"/>
          <p:cNvSpPr txBox="1"/>
          <p:nvPr/>
        </p:nvSpPr>
        <p:spPr>
          <a:xfrm>
            <a:off x="247136" y="1587720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67" name="Google Shape;567;g24fa25ea6d6_5_152"/>
          <p:cNvSpPr/>
          <p:nvPr/>
        </p:nvSpPr>
        <p:spPr>
          <a:xfrm>
            <a:off x="3173640" y="932422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24fa25ea6d6_5_152"/>
          <p:cNvSpPr/>
          <p:nvPr/>
        </p:nvSpPr>
        <p:spPr>
          <a:xfrm>
            <a:off x="7191106" y="928535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24fa25ea6d6_5_152"/>
          <p:cNvSpPr/>
          <p:nvPr/>
        </p:nvSpPr>
        <p:spPr>
          <a:xfrm>
            <a:off x="10495854" y="928534"/>
            <a:ext cx="553800" cy="1169700"/>
          </a:xfrm>
          <a:prstGeom prst="ellipse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24fa25ea6d6_5_152"/>
          <p:cNvSpPr/>
          <p:nvPr/>
        </p:nvSpPr>
        <p:spPr>
          <a:xfrm>
            <a:off x="8792980" y="859863"/>
            <a:ext cx="578100" cy="1268100"/>
          </a:xfrm>
          <a:prstGeom prst="ellipse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24fa25ea6d6_5_152"/>
          <p:cNvSpPr/>
          <p:nvPr/>
        </p:nvSpPr>
        <p:spPr>
          <a:xfrm>
            <a:off x="3885812" y="884464"/>
            <a:ext cx="578100" cy="1222800"/>
          </a:xfrm>
          <a:prstGeom prst="ellipse">
            <a:avLst/>
          </a:prstGeom>
          <a:noFill/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24fa25ea6d6_5_152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g24fa25ea6d6_5_152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24fa25ea6d6_5_1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24fa25ea6d6_5_1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0549" y="2528627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24fa25ea6d6_5_1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17338" y="4260099"/>
            <a:ext cx="1171094" cy="8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DDEB9851-A38A-F411-4557-21B50F62EE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DA13345B-9CFB-DE03-F5F8-44500C627F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444842A-88BD-2F0C-5FD5-DB35747A4F75}"/>
              </a:ext>
            </a:extLst>
          </p:cNvPr>
          <p:cNvGrpSpPr/>
          <p:nvPr/>
        </p:nvGrpSpPr>
        <p:grpSpPr>
          <a:xfrm>
            <a:off x="3704279" y="4768629"/>
            <a:ext cx="3947378" cy="887674"/>
            <a:chOff x="3704279" y="4768629"/>
            <a:chExt cx="3947378" cy="88767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7E8A8277-AF12-0E82-C3AA-6E8846FC4F16}"/>
                </a:ext>
              </a:extLst>
            </p:cNvPr>
            <p:cNvGrpSpPr/>
            <p:nvPr/>
          </p:nvGrpSpPr>
          <p:grpSpPr>
            <a:xfrm>
              <a:off x="3704279" y="4787908"/>
              <a:ext cx="3947378" cy="868395"/>
              <a:chOff x="3712485" y="4768629"/>
              <a:chExt cx="3947378" cy="868395"/>
            </a:xfrm>
          </p:grpSpPr>
          <p:pic>
            <p:nvPicPr>
              <p:cNvPr id="10" name="Google Shape;239;p6">
                <a:extLst>
                  <a:ext uri="{FF2B5EF4-FFF2-40B4-BE49-F238E27FC236}">
                    <a16:creationId xmlns:a16="http://schemas.microsoft.com/office/drawing/2014/main" id="{F05D1234-1976-5FC1-BA5C-8C31BA0E8590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735110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41;p6">
                <a:extLst>
                  <a:ext uri="{FF2B5EF4-FFF2-40B4-BE49-F238E27FC236}">
                    <a16:creationId xmlns:a16="http://schemas.microsoft.com/office/drawing/2014/main" id="{760AD8F2-B567-8ACA-F69E-6D6F67275CE4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712485" y="4768629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39;p6">
                <a:extLst>
                  <a:ext uri="{FF2B5EF4-FFF2-40B4-BE49-F238E27FC236}">
                    <a16:creationId xmlns:a16="http://schemas.microsoft.com/office/drawing/2014/main" id="{4013EE49-E2A0-D161-86D0-61B79C31AD4E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737950" y="480653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41;p6">
                <a:extLst>
                  <a:ext uri="{FF2B5EF4-FFF2-40B4-BE49-F238E27FC236}">
                    <a16:creationId xmlns:a16="http://schemas.microsoft.com/office/drawing/2014/main" id="{057F72A7-6337-3721-2E70-FFA9B4C7F183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4711271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395354B-2BE2-BBA0-14F8-6B64B5D1984A}"/>
                </a:ext>
              </a:extLst>
            </p:cNvPr>
            <p:cNvSpPr/>
            <p:nvPr/>
          </p:nvSpPr>
          <p:spPr>
            <a:xfrm>
              <a:off x="3712485" y="4768629"/>
              <a:ext cx="924753" cy="83049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6E3006B-7CCD-A584-F2BF-6D46ACF66B5F}"/>
                </a:ext>
              </a:extLst>
            </p:cNvPr>
            <p:cNvSpPr/>
            <p:nvPr/>
          </p:nvSpPr>
          <p:spPr>
            <a:xfrm>
              <a:off x="4709645" y="4791619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E4DC3BD-2146-CE68-FF45-4A6612E65E69}"/>
                </a:ext>
              </a:extLst>
            </p:cNvPr>
            <p:cNvSpPr/>
            <p:nvPr/>
          </p:nvSpPr>
          <p:spPr>
            <a:xfrm>
              <a:off x="5729744" y="4806532"/>
              <a:ext cx="924753" cy="83049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967CC40-CDB2-0D04-A6C0-7F7826CD6E34}"/>
                </a:ext>
              </a:extLst>
            </p:cNvPr>
            <p:cNvSpPr/>
            <p:nvPr/>
          </p:nvSpPr>
          <p:spPr>
            <a:xfrm>
              <a:off x="6726904" y="4794600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g24fa25ea6d6_5_176"/>
          <p:cNvGrpSpPr/>
          <p:nvPr/>
        </p:nvGrpSpPr>
        <p:grpSpPr>
          <a:xfrm flipH="1">
            <a:off x="9008879" y="4260102"/>
            <a:ext cx="2865332" cy="1100403"/>
            <a:chOff x="439473" y="1811648"/>
            <a:chExt cx="4206918" cy="1744179"/>
          </a:xfrm>
        </p:grpSpPr>
        <p:sp>
          <p:nvSpPr>
            <p:cNvPr id="583" name="Google Shape;583;g24fa25ea6d6_5_176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24fa25ea6d6_5_176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g24fa25ea6d6_5_176"/>
          <p:cNvSpPr txBox="1"/>
          <p:nvPr/>
        </p:nvSpPr>
        <p:spPr>
          <a:xfrm>
            <a:off x="6626085" y="2447462"/>
            <a:ext cx="55275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ESPECIFICITY (ESPECIFICIDAD)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( TN ) / (TN + FP)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89" marR="0" lvl="0" indent="-3809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3"/>
              <a:buFont typeface="Noto Sans Symbols"/>
              <a:buChar char="✔"/>
            </a:pPr>
            <a:r>
              <a:rPr lang="es-ES" sz="2133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Pondera el número de etiquetas correctas de NO cáncer con respecto al número de  </a:t>
            </a:r>
            <a:r>
              <a:rPr lang="es-ES" sz="2133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falsos positivos</a:t>
            </a:r>
            <a:r>
              <a:rPr lang="es-ES" sz="2133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 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86" name="Google Shape;586;g24fa25ea6d6_5_176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Evaluación del modelo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Clasificación. Usando un ejemplo.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7" name="Google Shape;587;g24fa25ea6d6_5_176"/>
          <p:cNvSpPr txBox="1"/>
          <p:nvPr/>
        </p:nvSpPr>
        <p:spPr>
          <a:xfrm>
            <a:off x="4187055" y="2714007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4/6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</a:t>
            </a:r>
            <a:r>
              <a:rPr lang="es-ES" sz="2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67</a:t>
            </a: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588" name="Google Shape;588;g24fa25ea6d6_5_176"/>
          <p:cNvGraphicFramePr/>
          <p:nvPr/>
        </p:nvGraphicFramePr>
        <p:xfrm>
          <a:off x="3127105" y="1037164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9" name="Google Shape;589;g24fa25ea6d6_5_176"/>
          <p:cNvSpPr txBox="1"/>
          <p:nvPr/>
        </p:nvSpPr>
        <p:spPr>
          <a:xfrm>
            <a:off x="99200" y="1084850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24fa25ea6d6_5_176"/>
          <p:cNvSpPr txBox="1"/>
          <p:nvPr/>
        </p:nvSpPr>
        <p:spPr>
          <a:xfrm>
            <a:off x="99200" y="1578972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24fa25ea6d6_5_176"/>
          <p:cNvSpPr/>
          <p:nvPr/>
        </p:nvSpPr>
        <p:spPr>
          <a:xfrm>
            <a:off x="6355269" y="834778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24fa25ea6d6_5_176"/>
          <p:cNvSpPr/>
          <p:nvPr/>
        </p:nvSpPr>
        <p:spPr>
          <a:xfrm>
            <a:off x="8792980" y="859863"/>
            <a:ext cx="578100" cy="12681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24fa25ea6d6_5_176"/>
          <p:cNvSpPr/>
          <p:nvPr/>
        </p:nvSpPr>
        <p:spPr>
          <a:xfrm>
            <a:off x="4711271" y="846523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24fa25ea6d6_5_176"/>
          <p:cNvSpPr/>
          <p:nvPr/>
        </p:nvSpPr>
        <p:spPr>
          <a:xfrm>
            <a:off x="5561779" y="872412"/>
            <a:ext cx="603300" cy="12555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24fa25ea6d6_5_176"/>
          <p:cNvSpPr/>
          <p:nvPr/>
        </p:nvSpPr>
        <p:spPr>
          <a:xfrm>
            <a:off x="9604233" y="883113"/>
            <a:ext cx="603300" cy="12681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24fa25ea6d6_5_176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g24fa25ea6d6_5_176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g24fa25ea6d6_5_1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24fa25ea6d6_5_1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0549" y="2528627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24fa25ea6d6_5_17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9775" y="4044175"/>
            <a:ext cx="919861" cy="12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2CD7C0E9-B3DD-B888-462E-13B5038BA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CE12B796-FF2F-5A81-B38A-3036F352C9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3FF462C8-8FC0-4D1A-CDE6-22C4D26FAFD9}"/>
              </a:ext>
            </a:extLst>
          </p:cNvPr>
          <p:cNvGrpSpPr/>
          <p:nvPr/>
        </p:nvGrpSpPr>
        <p:grpSpPr>
          <a:xfrm>
            <a:off x="3704279" y="4768629"/>
            <a:ext cx="3947378" cy="887674"/>
            <a:chOff x="3704279" y="4768629"/>
            <a:chExt cx="3947378" cy="88767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F776D60-755F-9C83-E8A1-B37762B9E329}"/>
                </a:ext>
              </a:extLst>
            </p:cNvPr>
            <p:cNvGrpSpPr/>
            <p:nvPr/>
          </p:nvGrpSpPr>
          <p:grpSpPr>
            <a:xfrm>
              <a:off x="3704279" y="4787908"/>
              <a:ext cx="3947378" cy="868395"/>
              <a:chOff x="3712485" y="4768629"/>
              <a:chExt cx="3947378" cy="868395"/>
            </a:xfrm>
          </p:grpSpPr>
          <p:pic>
            <p:nvPicPr>
              <p:cNvPr id="10" name="Google Shape;239;p6">
                <a:extLst>
                  <a:ext uri="{FF2B5EF4-FFF2-40B4-BE49-F238E27FC236}">
                    <a16:creationId xmlns:a16="http://schemas.microsoft.com/office/drawing/2014/main" id="{CA8AF273-06F8-6889-4ACC-DD2F9F1BFB15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735110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41;p6">
                <a:extLst>
                  <a:ext uri="{FF2B5EF4-FFF2-40B4-BE49-F238E27FC236}">
                    <a16:creationId xmlns:a16="http://schemas.microsoft.com/office/drawing/2014/main" id="{7CA3D09F-A87A-806C-32FB-3A7A381EE29E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712485" y="4768629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39;p6">
                <a:extLst>
                  <a:ext uri="{FF2B5EF4-FFF2-40B4-BE49-F238E27FC236}">
                    <a16:creationId xmlns:a16="http://schemas.microsoft.com/office/drawing/2014/main" id="{681A527D-213E-393B-18BB-64C87592A4FC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737950" y="480653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41;p6">
                <a:extLst>
                  <a:ext uri="{FF2B5EF4-FFF2-40B4-BE49-F238E27FC236}">
                    <a16:creationId xmlns:a16="http://schemas.microsoft.com/office/drawing/2014/main" id="{D1C18BA9-F7D7-58C5-5673-5906389A509F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4711271" y="4793542"/>
                <a:ext cx="924753" cy="830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EC9FC18-BAEF-9DAC-A772-023A48C70089}"/>
                </a:ext>
              </a:extLst>
            </p:cNvPr>
            <p:cNvSpPr/>
            <p:nvPr/>
          </p:nvSpPr>
          <p:spPr>
            <a:xfrm>
              <a:off x="3712485" y="4768629"/>
              <a:ext cx="924753" cy="83049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BE04490-4483-4EE7-76B1-6F7C32C249F3}"/>
                </a:ext>
              </a:extLst>
            </p:cNvPr>
            <p:cNvSpPr/>
            <p:nvPr/>
          </p:nvSpPr>
          <p:spPr>
            <a:xfrm>
              <a:off x="4709645" y="4791619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BC1AC5D-0DCA-BA31-E3D9-D95EA418A3B9}"/>
                </a:ext>
              </a:extLst>
            </p:cNvPr>
            <p:cNvSpPr/>
            <p:nvPr/>
          </p:nvSpPr>
          <p:spPr>
            <a:xfrm>
              <a:off x="5729744" y="4806532"/>
              <a:ext cx="924753" cy="83049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86ECD15-B185-4FEE-8193-99FF82D3EF0D}"/>
                </a:ext>
              </a:extLst>
            </p:cNvPr>
            <p:cNvSpPr/>
            <p:nvPr/>
          </p:nvSpPr>
          <p:spPr>
            <a:xfrm>
              <a:off x="6726904" y="4794600"/>
              <a:ext cx="924753" cy="83049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4" name="Google Shape;592;g24fa25ea6d6_5_176">
            <a:extLst>
              <a:ext uri="{FF2B5EF4-FFF2-40B4-BE49-F238E27FC236}">
                <a16:creationId xmlns:a16="http://schemas.microsoft.com/office/drawing/2014/main" id="{67973139-12EA-B083-C0D1-F6814E00CE26}"/>
              </a:ext>
            </a:extLst>
          </p:cNvPr>
          <p:cNvSpPr/>
          <p:nvPr/>
        </p:nvSpPr>
        <p:spPr>
          <a:xfrm>
            <a:off x="3931956" y="897564"/>
            <a:ext cx="578100" cy="12681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g24fa25ea6d6_5_200"/>
          <p:cNvGrpSpPr/>
          <p:nvPr/>
        </p:nvGrpSpPr>
        <p:grpSpPr>
          <a:xfrm flipH="1">
            <a:off x="9008879" y="3955302"/>
            <a:ext cx="2865332" cy="1100403"/>
            <a:chOff x="439473" y="1811648"/>
            <a:chExt cx="4206918" cy="1744179"/>
          </a:xfrm>
        </p:grpSpPr>
        <p:sp>
          <p:nvSpPr>
            <p:cNvPr id="607" name="Google Shape;607;g24fa25ea6d6_5_200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24fa25ea6d6_5_200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g24fa25ea6d6_5_200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Evaluación del modelo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Clasificación. Usando un ejemplo.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610" name="Google Shape;610;g24fa25ea6d6_5_200"/>
          <p:cNvGraphicFramePr/>
          <p:nvPr/>
        </p:nvGraphicFramePr>
        <p:xfrm>
          <a:off x="3127105" y="1023912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1" name="Google Shape;611;g24fa25ea6d6_5_200"/>
          <p:cNvSpPr txBox="1"/>
          <p:nvPr/>
        </p:nvSpPr>
        <p:spPr>
          <a:xfrm>
            <a:off x="99200" y="1084850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24fa25ea6d6_5_200"/>
          <p:cNvSpPr txBox="1"/>
          <p:nvPr/>
        </p:nvSpPr>
        <p:spPr>
          <a:xfrm>
            <a:off x="99200" y="1578972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24fa25ea6d6_5_200"/>
          <p:cNvSpPr txBox="1"/>
          <p:nvPr/>
        </p:nvSpPr>
        <p:spPr>
          <a:xfrm>
            <a:off x="9726475" y="2517751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4/5</a:t>
            </a:r>
            <a:endParaRPr sz="1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</a:t>
            </a:r>
            <a:r>
              <a:rPr lang="es-ES" sz="2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67</a:t>
            </a: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%</a:t>
            </a: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15" name="Google Shape;615;g24fa25ea6d6_5_200"/>
          <p:cNvSpPr txBox="1"/>
          <p:nvPr/>
        </p:nvSpPr>
        <p:spPr>
          <a:xfrm>
            <a:off x="7363561" y="2477720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3/5</a:t>
            </a:r>
            <a:endParaRPr sz="1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60%</a:t>
            </a: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16" name="Google Shape;616;g24fa25ea6d6_5_200"/>
          <p:cNvSpPr txBox="1"/>
          <p:nvPr/>
        </p:nvSpPr>
        <p:spPr>
          <a:xfrm>
            <a:off x="5030526" y="2461779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3/4</a:t>
            </a:r>
            <a:endParaRPr sz="1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75%</a:t>
            </a: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17" name="Google Shape;617;g24fa25ea6d6_5_200"/>
          <p:cNvSpPr txBox="1"/>
          <p:nvPr/>
        </p:nvSpPr>
        <p:spPr>
          <a:xfrm>
            <a:off x="2743054" y="2508426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7/10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70%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18" name="Google Shape;618;g24fa25ea6d6_5_200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g24fa25ea6d6_5_200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24fa25ea6d6_5_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1" name="Google Shape;621;g24fa25ea6d6_5_200"/>
          <p:cNvGrpSpPr/>
          <p:nvPr/>
        </p:nvGrpSpPr>
        <p:grpSpPr>
          <a:xfrm>
            <a:off x="2936250" y="4374013"/>
            <a:ext cx="1774200" cy="1139791"/>
            <a:chOff x="925200" y="3851688"/>
            <a:chExt cx="1774200" cy="1139791"/>
          </a:xfrm>
        </p:grpSpPr>
        <p:pic>
          <p:nvPicPr>
            <p:cNvPr id="622" name="Google Shape;622;g24fa25ea6d6_5_200"/>
            <p:cNvPicPr preferRelativeResize="0"/>
            <p:nvPr/>
          </p:nvPicPr>
          <p:blipFill rotWithShape="1">
            <a:blip r:embed="rId5">
              <a:alphaModFix/>
            </a:blip>
            <a:srcRect b="14798"/>
            <a:stretch/>
          </p:blipFill>
          <p:spPr>
            <a:xfrm>
              <a:off x="1360700" y="3944587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3" name="Google Shape;623;g24fa25ea6d6_5_200"/>
            <p:cNvPicPr preferRelativeResize="0"/>
            <p:nvPr/>
          </p:nvPicPr>
          <p:blipFill rotWithShape="1">
            <a:blip r:embed="rId6">
              <a:alphaModFix/>
            </a:blip>
            <a:srcRect b="14798"/>
            <a:stretch/>
          </p:blipFill>
          <p:spPr>
            <a:xfrm>
              <a:off x="1941950" y="3944576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4" name="Google Shape;624;g24fa25ea6d6_5_200"/>
            <p:cNvGrpSpPr/>
            <p:nvPr/>
          </p:nvGrpSpPr>
          <p:grpSpPr>
            <a:xfrm>
              <a:off x="1254253" y="4422667"/>
              <a:ext cx="1097271" cy="568812"/>
              <a:chOff x="314750" y="2623025"/>
              <a:chExt cx="3920225" cy="1801750"/>
            </a:xfrm>
          </p:grpSpPr>
          <p:pic>
            <p:nvPicPr>
              <p:cNvPr id="625" name="Google Shape;625;g24fa25ea6d6_5_200"/>
              <p:cNvPicPr preferRelativeResize="0"/>
              <p:nvPr/>
            </p:nvPicPr>
            <p:blipFill rotWithShape="1">
              <a:blip r:embed="rId7">
                <a:alphaModFix/>
              </a:blip>
              <a:srcRect l="3546" t="7748" r="10762" b="12771"/>
              <a:stretch/>
            </p:blipFill>
            <p:spPr>
              <a:xfrm>
                <a:off x="314750" y="2623025"/>
                <a:ext cx="3920225" cy="1801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6" name="Google Shape;626;g24fa25ea6d6_5_200"/>
              <p:cNvPicPr preferRelativeResize="0"/>
              <p:nvPr/>
            </p:nvPicPr>
            <p:blipFill rotWithShape="1">
              <a:blip r:embed="rId8">
                <a:alphaModFix/>
              </a:blip>
              <a:srcRect l="9099" t="13485" r="13127" b="6996"/>
              <a:stretch/>
            </p:blipFill>
            <p:spPr>
              <a:xfrm>
                <a:off x="1112750" y="3057875"/>
                <a:ext cx="2865325" cy="923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27" name="Google Shape;627;g24fa25ea6d6_5_200"/>
            <p:cNvCxnSpPr/>
            <p:nvPr/>
          </p:nvCxnSpPr>
          <p:spPr>
            <a:xfrm>
              <a:off x="925200" y="4330325"/>
              <a:ext cx="17742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28" name="Google Shape;628;g24fa25ea6d6_5_200"/>
            <p:cNvSpPr txBox="1"/>
            <p:nvPr/>
          </p:nvSpPr>
          <p:spPr>
            <a:xfrm>
              <a:off x="1640738" y="3851688"/>
              <a:ext cx="32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9" name="Google Shape;629;g24fa25ea6d6_5_200"/>
          <p:cNvPicPr preferRelativeResize="0"/>
          <p:nvPr/>
        </p:nvPicPr>
        <p:blipFill rotWithShape="1">
          <a:blip r:embed="rId9">
            <a:alphaModFix/>
          </a:blip>
          <a:srcRect t="5926"/>
          <a:stretch/>
        </p:blipFill>
        <p:spPr>
          <a:xfrm>
            <a:off x="5652663" y="4372450"/>
            <a:ext cx="1004425" cy="11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g24fa25ea6d6_5_20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58300" y="4488349"/>
            <a:ext cx="1171094" cy="8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g24fa25ea6d6_5_20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42300" y="4300813"/>
            <a:ext cx="919861" cy="12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24fa25ea6d6_5_20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887" y="4445252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258E2D02-7047-9438-CAF3-B1E4AD04C5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250F44F1-5CBA-D855-9A67-20CCAF9751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g24fa25ea6d6_5_221"/>
          <p:cNvGrpSpPr/>
          <p:nvPr/>
        </p:nvGrpSpPr>
        <p:grpSpPr>
          <a:xfrm flipH="1">
            <a:off x="9008879" y="4031502"/>
            <a:ext cx="2865332" cy="1100403"/>
            <a:chOff x="439473" y="1811648"/>
            <a:chExt cx="4206918" cy="1744179"/>
          </a:xfrm>
        </p:grpSpPr>
        <p:sp>
          <p:nvSpPr>
            <p:cNvPr id="639" name="Google Shape;639;g24fa25ea6d6_5_221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24fa25ea6d6_5_221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g24fa25ea6d6_5_221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Otro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ejemplo.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642" name="Google Shape;642;g24fa25ea6d6_5_221"/>
          <p:cNvGraphicFramePr/>
          <p:nvPr/>
        </p:nvGraphicFramePr>
        <p:xfrm>
          <a:off x="3127105" y="1023912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3" name="Google Shape;643;g24fa25ea6d6_5_221"/>
          <p:cNvSpPr txBox="1"/>
          <p:nvPr/>
        </p:nvSpPr>
        <p:spPr>
          <a:xfrm>
            <a:off x="99200" y="1084850"/>
            <a:ext cx="6155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Etiquetas verdaderas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24fa25ea6d6_5_221"/>
          <p:cNvSpPr txBox="1"/>
          <p:nvPr/>
        </p:nvSpPr>
        <p:spPr>
          <a:xfrm>
            <a:off x="99201" y="1578971"/>
            <a:ext cx="3027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24fa25ea6d6_5_221"/>
          <p:cNvSpPr txBox="1"/>
          <p:nvPr/>
        </p:nvSpPr>
        <p:spPr>
          <a:xfrm>
            <a:off x="9713646" y="2415979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4/5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</a:t>
            </a:r>
            <a:r>
              <a:rPr lang="es-ES" sz="2667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24fa25ea6d6_5_221"/>
          <p:cNvSpPr txBox="1"/>
          <p:nvPr/>
        </p:nvSpPr>
        <p:spPr>
          <a:xfrm>
            <a:off x="7363561" y="2401520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7/10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70%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48" name="Google Shape;648;g24fa25ea6d6_5_221"/>
          <p:cNvSpPr txBox="1"/>
          <p:nvPr/>
        </p:nvSpPr>
        <p:spPr>
          <a:xfrm>
            <a:off x="5030526" y="2385579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7/7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100%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49" name="Google Shape;649;g24fa25ea6d6_5_221"/>
          <p:cNvSpPr txBox="1"/>
          <p:nvPr/>
        </p:nvSpPr>
        <p:spPr>
          <a:xfrm>
            <a:off x="2743054" y="2432226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7/10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</a:t>
            </a:r>
            <a:r>
              <a:rPr lang="es-ES" sz="2667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sz="2667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24fa25ea6d6_5_221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g24fa25ea6d6_5_221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24fa25ea6d6_5_2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g24fa25ea6d6_5_221"/>
          <p:cNvGrpSpPr/>
          <p:nvPr/>
        </p:nvGrpSpPr>
        <p:grpSpPr>
          <a:xfrm>
            <a:off x="2936250" y="4374013"/>
            <a:ext cx="1774200" cy="1139791"/>
            <a:chOff x="925200" y="3851688"/>
            <a:chExt cx="1774200" cy="1139791"/>
          </a:xfrm>
        </p:grpSpPr>
        <p:pic>
          <p:nvPicPr>
            <p:cNvPr id="654" name="Google Shape;654;g24fa25ea6d6_5_221"/>
            <p:cNvPicPr preferRelativeResize="0"/>
            <p:nvPr/>
          </p:nvPicPr>
          <p:blipFill rotWithShape="1">
            <a:blip r:embed="rId5">
              <a:alphaModFix/>
            </a:blip>
            <a:srcRect b="14798"/>
            <a:stretch/>
          </p:blipFill>
          <p:spPr>
            <a:xfrm>
              <a:off x="1360700" y="3944587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5" name="Google Shape;655;g24fa25ea6d6_5_221"/>
            <p:cNvPicPr preferRelativeResize="0"/>
            <p:nvPr/>
          </p:nvPicPr>
          <p:blipFill rotWithShape="1">
            <a:blip r:embed="rId6">
              <a:alphaModFix/>
            </a:blip>
            <a:srcRect b="14798"/>
            <a:stretch/>
          </p:blipFill>
          <p:spPr>
            <a:xfrm>
              <a:off x="1941950" y="3944576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6" name="Google Shape;656;g24fa25ea6d6_5_221"/>
            <p:cNvGrpSpPr/>
            <p:nvPr/>
          </p:nvGrpSpPr>
          <p:grpSpPr>
            <a:xfrm>
              <a:off x="1254253" y="4422667"/>
              <a:ext cx="1097271" cy="568812"/>
              <a:chOff x="314750" y="2623025"/>
              <a:chExt cx="3920225" cy="1801750"/>
            </a:xfrm>
          </p:grpSpPr>
          <p:pic>
            <p:nvPicPr>
              <p:cNvPr id="657" name="Google Shape;657;g24fa25ea6d6_5_221"/>
              <p:cNvPicPr preferRelativeResize="0"/>
              <p:nvPr/>
            </p:nvPicPr>
            <p:blipFill rotWithShape="1">
              <a:blip r:embed="rId7">
                <a:alphaModFix/>
              </a:blip>
              <a:srcRect l="3546" t="7748" r="10762" b="12771"/>
              <a:stretch/>
            </p:blipFill>
            <p:spPr>
              <a:xfrm>
                <a:off x="314750" y="2623025"/>
                <a:ext cx="3920225" cy="1801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8" name="Google Shape;658;g24fa25ea6d6_5_221"/>
              <p:cNvPicPr preferRelativeResize="0"/>
              <p:nvPr/>
            </p:nvPicPr>
            <p:blipFill rotWithShape="1">
              <a:blip r:embed="rId8">
                <a:alphaModFix/>
              </a:blip>
              <a:srcRect l="9099" t="13485" r="13127" b="6996"/>
              <a:stretch/>
            </p:blipFill>
            <p:spPr>
              <a:xfrm>
                <a:off x="1112750" y="3057875"/>
                <a:ext cx="2865325" cy="923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59" name="Google Shape;659;g24fa25ea6d6_5_221"/>
            <p:cNvCxnSpPr/>
            <p:nvPr/>
          </p:nvCxnSpPr>
          <p:spPr>
            <a:xfrm>
              <a:off x="925200" y="4330325"/>
              <a:ext cx="17742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0" name="Google Shape;660;g24fa25ea6d6_5_221"/>
            <p:cNvSpPr txBox="1"/>
            <p:nvPr/>
          </p:nvSpPr>
          <p:spPr>
            <a:xfrm>
              <a:off x="1640738" y="3851688"/>
              <a:ext cx="32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1" name="Google Shape;661;g24fa25ea6d6_5_221"/>
          <p:cNvPicPr preferRelativeResize="0"/>
          <p:nvPr/>
        </p:nvPicPr>
        <p:blipFill rotWithShape="1">
          <a:blip r:embed="rId9">
            <a:alphaModFix/>
          </a:blip>
          <a:srcRect t="5926"/>
          <a:stretch/>
        </p:blipFill>
        <p:spPr>
          <a:xfrm>
            <a:off x="5652663" y="4372450"/>
            <a:ext cx="1004425" cy="11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g24fa25ea6d6_5_2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58300" y="4488349"/>
            <a:ext cx="1171094" cy="8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24fa25ea6d6_5_2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42300" y="4300813"/>
            <a:ext cx="919861" cy="12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24fa25ea6d6_5_22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887" y="4445252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20DECE04-7DE5-FC44-3723-BA281D8789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AF51B6EB-32F3-3C3E-FD9B-71C76892E4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g24fa25ea6d6_5_242"/>
          <p:cNvGrpSpPr/>
          <p:nvPr/>
        </p:nvGrpSpPr>
        <p:grpSpPr>
          <a:xfrm flipH="1">
            <a:off x="9008879" y="3879102"/>
            <a:ext cx="2865332" cy="1100403"/>
            <a:chOff x="439473" y="1811648"/>
            <a:chExt cx="4206918" cy="1744179"/>
          </a:xfrm>
        </p:grpSpPr>
        <p:sp>
          <p:nvSpPr>
            <p:cNvPr id="671" name="Google Shape;671;g24fa25ea6d6_5_242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24fa25ea6d6_5_242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g24fa25ea6d6_5_242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Otro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ejemplo.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674" name="Google Shape;674;g24fa25ea6d6_5_242"/>
          <p:cNvGraphicFramePr/>
          <p:nvPr/>
        </p:nvGraphicFramePr>
        <p:xfrm>
          <a:off x="3127105" y="1023912"/>
          <a:ext cx="8128000" cy="988900"/>
        </p:xfrm>
        <a:graphic>
          <a:graphicData uri="http://schemas.openxmlformats.org/drawingml/2006/table">
            <a:tbl>
              <a:tblPr firstCol="1" bandCol="1">
                <a:noFill/>
                <a:tableStyleId>{BE258BDC-868D-4809-9046-3BDF4663ADDB}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  </a:t>
                      </a: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2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5" name="Google Shape;675;g24fa25ea6d6_5_242"/>
          <p:cNvSpPr txBox="1"/>
          <p:nvPr/>
        </p:nvSpPr>
        <p:spPr>
          <a:xfrm>
            <a:off x="99200" y="1084850"/>
            <a:ext cx="61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Etiquetas verdaderas</a:t>
            </a:r>
            <a:endParaRPr sz="2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24fa25ea6d6_5_242"/>
          <p:cNvSpPr txBox="1"/>
          <p:nvPr/>
        </p:nvSpPr>
        <p:spPr>
          <a:xfrm>
            <a:off x="99201" y="1578971"/>
            <a:ext cx="3027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Predicciones del modelo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24fa25ea6d6_5_242"/>
          <p:cNvSpPr txBox="1"/>
          <p:nvPr/>
        </p:nvSpPr>
        <p:spPr>
          <a:xfrm>
            <a:off x="9681696" y="2416493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3/3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ESP = </a:t>
            </a:r>
            <a:r>
              <a:rPr lang="es-E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lang="es-ES" sz="24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24fa25ea6d6_5_242"/>
          <p:cNvSpPr txBox="1"/>
          <p:nvPr/>
        </p:nvSpPr>
        <p:spPr>
          <a:xfrm>
            <a:off x="7363561" y="2401520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7/10</a:t>
            </a:r>
            <a:endParaRPr sz="14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 = 0%</a:t>
            </a: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80" name="Google Shape;680;g24fa25ea6d6_5_242"/>
          <p:cNvSpPr txBox="1"/>
          <p:nvPr/>
        </p:nvSpPr>
        <p:spPr>
          <a:xfrm>
            <a:off x="5030526" y="2385579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7/7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 = 0%</a:t>
            </a:r>
            <a:endParaRPr sz="2667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81" name="Google Shape;681;g24fa25ea6d6_5_242"/>
          <p:cNvSpPr txBox="1"/>
          <p:nvPr/>
        </p:nvSpPr>
        <p:spPr>
          <a:xfrm>
            <a:off x="2743054" y="2432226"/>
            <a:ext cx="2160600" cy="17343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3/10</a:t>
            </a:r>
            <a:endParaRPr sz="1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ES" sz="2667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ACC = </a:t>
            </a:r>
            <a:r>
              <a:rPr lang="es-ES" sz="2667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2667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24fa25ea6d6_5_242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g24fa25ea6d6_5_242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g24fa25ea6d6_5_2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5" name="Google Shape;685;g24fa25ea6d6_5_242"/>
          <p:cNvGrpSpPr/>
          <p:nvPr/>
        </p:nvGrpSpPr>
        <p:grpSpPr>
          <a:xfrm>
            <a:off x="2936250" y="4374013"/>
            <a:ext cx="1774200" cy="1139791"/>
            <a:chOff x="925200" y="3851688"/>
            <a:chExt cx="1774200" cy="1139791"/>
          </a:xfrm>
        </p:grpSpPr>
        <p:pic>
          <p:nvPicPr>
            <p:cNvPr id="686" name="Google Shape;686;g24fa25ea6d6_5_242"/>
            <p:cNvPicPr preferRelativeResize="0"/>
            <p:nvPr/>
          </p:nvPicPr>
          <p:blipFill rotWithShape="1">
            <a:blip r:embed="rId5">
              <a:alphaModFix/>
            </a:blip>
            <a:srcRect b="14798"/>
            <a:stretch/>
          </p:blipFill>
          <p:spPr>
            <a:xfrm>
              <a:off x="1360700" y="3944587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g24fa25ea6d6_5_242"/>
            <p:cNvPicPr preferRelativeResize="0"/>
            <p:nvPr/>
          </p:nvPicPr>
          <p:blipFill rotWithShape="1">
            <a:blip r:embed="rId6">
              <a:alphaModFix/>
            </a:blip>
            <a:srcRect b="14798"/>
            <a:stretch/>
          </p:blipFill>
          <p:spPr>
            <a:xfrm>
              <a:off x="1941950" y="3944576"/>
              <a:ext cx="409575" cy="275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8" name="Google Shape;688;g24fa25ea6d6_5_242"/>
            <p:cNvGrpSpPr/>
            <p:nvPr/>
          </p:nvGrpSpPr>
          <p:grpSpPr>
            <a:xfrm>
              <a:off x="1254253" y="4422667"/>
              <a:ext cx="1097271" cy="568812"/>
              <a:chOff x="314750" y="2623025"/>
              <a:chExt cx="3920225" cy="1801750"/>
            </a:xfrm>
          </p:grpSpPr>
          <p:pic>
            <p:nvPicPr>
              <p:cNvPr id="689" name="Google Shape;689;g24fa25ea6d6_5_242"/>
              <p:cNvPicPr preferRelativeResize="0"/>
              <p:nvPr/>
            </p:nvPicPr>
            <p:blipFill rotWithShape="1">
              <a:blip r:embed="rId7">
                <a:alphaModFix/>
              </a:blip>
              <a:srcRect l="3546" t="7748" r="10762" b="12771"/>
              <a:stretch/>
            </p:blipFill>
            <p:spPr>
              <a:xfrm>
                <a:off x="314750" y="2623025"/>
                <a:ext cx="3920225" cy="1801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0" name="Google Shape;690;g24fa25ea6d6_5_242"/>
              <p:cNvPicPr preferRelativeResize="0"/>
              <p:nvPr/>
            </p:nvPicPr>
            <p:blipFill rotWithShape="1">
              <a:blip r:embed="rId8">
                <a:alphaModFix/>
              </a:blip>
              <a:srcRect l="9099" t="13485" r="13127" b="6996"/>
              <a:stretch/>
            </p:blipFill>
            <p:spPr>
              <a:xfrm>
                <a:off x="1112750" y="3057875"/>
                <a:ext cx="2865325" cy="923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91" name="Google Shape;691;g24fa25ea6d6_5_242"/>
            <p:cNvCxnSpPr/>
            <p:nvPr/>
          </p:nvCxnSpPr>
          <p:spPr>
            <a:xfrm>
              <a:off x="925200" y="4330325"/>
              <a:ext cx="17742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2" name="Google Shape;692;g24fa25ea6d6_5_242"/>
            <p:cNvSpPr txBox="1"/>
            <p:nvPr/>
          </p:nvSpPr>
          <p:spPr>
            <a:xfrm>
              <a:off x="1640738" y="3851688"/>
              <a:ext cx="32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3" name="Google Shape;693;g24fa25ea6d6_5_242"/>
          <p:cNvPicPr preferRelativeResize="0"/>
          <p:nvPr/>
        </p:nvPicPr>
        <p:blipFill rotWithShape="1">
          <a:blip r:embed="rId9">
            <a:alphaModFix/>
          </a:blip>
          <a:srcRect t="5926"/>
          <a:stretch/>
        </p:blipFill>
        <p:spPr>
          <a:xfrm>
            <a:off x="5652663" y="4372450"/>
            <a:ext cx="1004425" cy="11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g24fa25ea6d6_5_24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58300" y="4488349"/>
            <a:ext cx="1171094" cy="8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24fa25ea6d6_5_24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42300" y="4300813"/>
            <a:ext cx="919861" cy="12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24fa25ea6d6_5_24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887" y="4445252"/>
            <a:ext cx="1764680" cy="10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9A45F1A5-A93A-84F6-3D80-FCA55CAACD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0256876A-1BF3-F36A-6771-2879CC3907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15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703" name="Google Shape;703;p15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5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p15"/>
          <p:cNvSpPr txBox="1">
            <a:spLocks noGrp="1"/>
          </p:cNvSpPr>
          <p:nvPr>
            <p:ph type="title"/>
          </p:nvPr>
        </p:nvSpPr>
        <p:spPr>
          <a:xfrm>
            <a:off x="19217" y="1051247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 dirty="0">
                <a:solidFill>
                  <a:srgbClr val="FF0000"/>
                </a:solidFill>
              </a:rPr>
              <a:t>SEGMENTACIÓN</a:t>
            </a:r>
            <a:endParaRPr sz="4800" b="1" dirty="0">
              <a:solidFill>
                <a:srgbClr val="FF0000"/>
              </a:solidFill>
            </a:endParaRPr>
          </a:p>
        </p:txBody>
      </p:sp>
      <p:sp>
        <p:nvSpPr>
          <p:cNvPr id="706" name="Google Shape;706;p15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15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4fa25ea6d6_0_23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5" name="Google Shape;715;g24fa25ea6d6_0_23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6" name="Google Shape;716;g24fa25ea6d6_0_23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g24fa25ea6d6_0_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24fa25ea6d6_0_23"/>
          <p:cNvSpPr txBox="1"/>
          <p:nvPr/>
        </p:nvSpPr>
        <p:spPr>
          <a:xfrm>
            <a:off x="377150" y="858000"/>
            <a:ext cx="11330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9" name="Google Shape;719;g24fa25ea6d6_0_23"/>
          <p:cNvPicPr preferRelativeResize="0"/>
          <p:nvPr/>
        </p:nvPicPr>
        <p:blipFill rotWithShape="1">
          <a:blip r:embed="rId5">
            <a:alphaModFix/>
          </a:blip>
          <a:srcRect l="7983" t="34525" r="57708" b="12570"/>
          <a:stretch/>
        </p:blipFill>
        <p:spPr>
          <a:xfrm>
            <a:off x="2793998" y="3101788"/>
            <a:ext cx="2058074" cy="1784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g24fa25ea6d6_0_23"/>
          <p:cNvPicPr preferRelativeResize="0"/>
          <p:nvPr/>
        </p:nvPicPr>
        <p:blipFill rotWithShape="1">
          <a:blip r:embed="rId6">
            <a:alphaModFix/>
          </a:blip>
          <a:srcRect l="17283" t="29230" r="25768" b="12199"/>
          <a:stretch/>
        </p:blipFill>
        <p:spPr>
          <a:xfrm>
            <a:off x="5019702" y="2863762"/>
            <a:ext cx="2058075" cy="2193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24fa25ea6d6_0_23"/>
          <p:cNvPicPr preferRelativeResize="0"/>
          <p:nvPr/>
        </p:nvPicPr>
        <p:blipFill rotWithShape="1">
          <a:blip r:embed="rId7">
            <a:alphaModFix/>
          </a:blip>
          <a:srcRect l="19025" t="28678" r="26112" b="12913"/>
          <a:stretch/>
        </p:blipFill>
        <p:spPr>
          <a:xfrm>
            <a:off x="7339927" y="2846395"/>
            <a:ext cx="2058075" cy="2251157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24fa25ea6d6_0_23"/>
          <p:cNvSpPr txBox="1"/>
          <p:nvPr/>
        </p:nvSpPr>
        <p:spPr>
          <a:xfrm>
            <a:off x="6565300" y="2140625"/>
            <a:ext cx="1265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24fa25ea6d6_0_23"/>
          <p:cNvSpPr/>
          <p:nvPr/>
        </p:nvSpPr>
        <p:spPr>
          <a:xfrm rot="-5400000">
            <a:off x="7061177" y="1582375"/>
            <a:ext cx="213900" cy="2300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2A6E6114-566D-34E5-83BF-BE81E3E28F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70AB13D2-2CFE-07F7-0C52-50B6FCF4F7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4fa25ea6d6_0_57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0" name="Google Shape;730;g24fa25ea6d6_0_57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1" name="Google Shape;731;g24fa25ea6d6_0_57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g24fa25ea6d6_0_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g24fa25ea6d6_0_57"/>
          <p:cNvSpPr txBox="1"/>
          <p:nvPr/>
        </p:nvSpPr>
        <p:spPr>
          <a:xfrm>
            <a:off x="377150" y="858000"/>
            <a:ext cx="11330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Se estima la segmentación con un algoritmo computacional que clasifica cada voxel.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24fa25ea6d6_0_57"/>
          <p:cNvSpPr/>
          <p:nvPr/>
        </p:nvSpPr>
        <p:spPr>
          <a:xfrm rot="5400000">
            <a:off x="4987075" y="2442150"/>
            <a:ext cx="2377200" cy="2692800"/>
          </a:xfrm>
          <a:prstGeom prst="trapezoid">
            <a:avLst>
              <a:gd name="adj" fmla="val 25000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24fa25ea6d6_0_57"/>
          <p:cNvSpPr txBox="1"/>
          <p:nvPr/>
        </p:nvSpPr>
        <p:spPr>
          <a:xfrm>
            <a:off x="4408125" y="3332325"/>
            <a:ext cx="3352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        Modelo de ACV.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Deep Learning</a:t>
            </a:r>
            <a:endParaRPr sz="24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6" name="Google Shape;736;g24fa25ea6d6_0_57"/>
          <p:cNvPicPr preferRelativeResize="0"/>
          <p:nvPr/>
        </p:nvPicPr>
        <p:blipFill rotWithShape="1">
          <a:blip r:embed="rId5">
            <a:alphaModFix/>
          </a:blip>
          <a:srcRect l="13544" t="26973" r="20859" b="11582"/>
          <a:stretch/>
        </p:blipFill>
        <p:spPr>
          <a:xfrm>
            <a:off x="9152062" y="2466100"/>
            <a:ext cx="1335825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24fa25ea6d6_0_57"/>
          <p:cNvPicPr preferRelativeResize="0"/>
          <p:nvPr/>
        </p:nvPicPr>
        <p:blipFill rotWithShape="1">
          <a:blip r:embed="rId6">
            <a:alphaModFix/>
          </a:blip>
          <a:srcRect l="18365" t="25502" r="24686" b="12688"/>
          <a:stretch/>
        </p:blipFill>
        <p:spPr>
          <a:xfrm>
            <a:off x="10732200" y="2466100"/>
            <a:ext cx="1153859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g24fa25ea6d6_0_57"/>
          <p:cNvPicPr preferRelativeResize="0"/>
          <p:nvPr/>
        </p:nvPicPr>
        <p:blipFill rotWithShape="1">
          <a:blip r:embed="rId7">
            <a:alphaModFix/>
          </a:blip>
          <a:srcRect l="17283" t="29230" r="25768" b="12199"/>
          <a:stretch/>
        </p:blipFill>
        <p:spPr>
          <a:xfrm>
            <a:off x="7765375" y="2505724"/>
            <a:ext cx="1142374" cy="12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24fa25ea6d6_0_57"/>
          <p:cNvPicPr preferRelativeResize="0"/>
          <p:nvPr/>
        </p:nvPicPr>
        <p:blipFill rotWithShape="1">
          <a:blip r:embed="rId8">
            <a:alphaModFix/>
          </a:blip>
          <a:srcRect l="18796" t="26425" r="27297" b="12611"/>
          <a:stretch/>
        </p:blipFill>
        <p:spPr>
          <a:xfrm>
            <a:off x="9265688" y="3816260"/>
            <a:ext cx="1112949" cy="129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g24fa25ea6d6_0_57"/>
          <p:cNvPicPr preferRelativeResize="0"/>
          <p:nvPr/>
        </p:nvPicPr>
        <p:blipFill rotWithShape="1">
          <a:blip r:embed="rId9">
            <a:alphaModFix/>
          </a:blip>
          <a:srcRect l="19025" t="28678" r="26112" b="12913"/>
          <a:stretch/>
        </p:blipFill>
        <p:spPr>
          <a:xfrm>
            <a:off x="7799183" y="3854937"/>
            <a:ext cx="1112940" cy="121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24fa25ea6d6_0_57"/>
          <p:cNvPicPr preferRelativeResize="0"/>
          <p:nvPr/>
        </p:nvPicPr>
        <p:blipFill rotWithShape="1">
          <a:blip r:embed="rId10">
            <a:alphaModFix/>
          </a:blip>
          <a:srcRect l="18491" t="25975" r="26829" b="13811"/>
          <a:stretch/>
        </p:blipFill>
        <p:spPr>
          <a:xfrm>
            <a:off x="10732200" y="3850256"/>
            <a:ext cx="1112949" cy="1260718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24fa25ea6d6_0_57"/>
          <p:cNvSpPr/>
          <p:nvPr/>
        </p:nvSpPr>
        <p:spPr>
          <a:xfrm>
            <a:off x="8473927" y="2717638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24fa25ea6d6_0_57"/>
          <p:cNvSpPr/>
          <p:nvPr/>
        </p:nvSpPr>
        <p:spPr>
          <a:xfrm>
            <a:off x="9950670" y="2700988"/>
            <a:ext cx="364375" cy="849825"/>
          </a:xfrm>
          <a:custGeom>
            <a:avLst/>
            <a:gdLst/>
            <a:ahLst/>
            <a:cxnLst/>
            <a:rect l="l" t="t" r="r" b="b"/>
            <a:pathLst>
              <a:path w="14575" h="33993" extrusionOk="0">
                <a:moveTo>
                  <a:pt x="5530" y="5143"/>
                </a:moveTo>
                <a:cubicBezTo>
                  <a:pt x="4779" y="3641"/>
                  <a:pt x="3166" y="1610"/>
                  <a:pt x="4197" y="285"/>
                </a:cubicBezTo>
                <a:cubicBezTo>
                  <a:pt x="5188" y="-988"/>
                  <a:pt x="7054" y="2578"/>
                  <a:pt x="7054" y="4191"/>
                </a:cubicBezTo>
                <a:cubicBezTo>
                  <a:pt x="7054" y="5972"/>
                  <a:pt x="2681" y="3682"/>
                  <a:pt x="1816" y="5238"/>
                </a:cubicBezTo>
                <a:cubicBezTo>
                  <a:pt x="791" y="7082"/>
                  <a:pt x="6959" y="7713"/>
                  <a:pt x="6292" y="9715"/>
                </a:cubicBezTo>
                <a:cubicBezTo>
                  <a:pt x="5513" y="12054"/>
                  <a:pt x="2897" y="16722"/>
                  <a:pt x="5340" y="17049"/>
                </a:cubicBezTo>
                <a:cubicBezTo>
                  <a:pt x="8707" y="17499"/>
                  <a:pt x="5385" y="9278"/>
                  <a:pt x="8102" y="7239"/>
                </a:cubicBezTo>
                <a:cubicBezTo>
                  <a:pt x="10149" y="5703"/>
                  <a:pt x="11870" y="10939"/>
                  <a:pt x="12769" y="13335"/>
                </a:cubicBezTo>
                <a:cubicBezTo>
                  <a:pt x="13091" y="14192"/>
                  <a:pt x="12153" y="15500"/>
                  <a:pt x="11245" y="15621"/>
                </a:cubicBezTo>
                <a:cubicBezTo>
                  <a:pt x="10221" y="15757"/>
                  <a:pt x="13898" y="16888"/>
                  <a:pt x="13436" y="17811"/>
                </a:cubicBezTo>
                <a:cubicBezTo>
                  <a:pt x="12870" y="18942"/>
                  <a:pt x="9838" y="18384"/>
                  <a:pt x="10102" y="19621"/>
                </a:cubicBezTo>
                <a:cubicBezTo>
                  <a:pt x="10421" y="21114"/>
                  <a:pt x="14025" y="19499"/>
                  <a:pt x="14484" y="20955"/>
                </a:cubicBezTo>
                <a:cubicBezTo>
                  <a:pt x="14652" y="21488"/>
                  <a:pt x="14507" y="24906"/>
                  <a:pt x="14198" y="25146"/>
                </a:cubicBezTo>
                <a:cubicBezTo>
                  <a:pt x="13141" y="25969"/>
                  <a:pt x="11408" y="23450"/>
                  <a:pt x="10293" y="24193"/>
                </a:cubicBezTo>
                <a:cubicBezTo>
                  <a:pt x="8895" y="25125"/>
                  <a:pt x="12757" y="27275"/>
                  <a:pt x="12198" y="28860"/>
                </a:cubicBezTo>
                <a:cubicBezTo>
                  <a:pt x="11646" y="30424"/>
                  <a:pt x="7648" y="27728"/>
                  <a:pt x="7245" y="29337"/>
                </a:cubicBezTo>
                <a:cubicBezTo>
                  <a:pt x="6916" y="30653"/>
                  <a:pt x="10552" y="31994"/>
                  <a:pt x="9436" y="32766"/>
                </a:cubicBezTo>
                <a:cubicBezTo>
                  <a:pt x="8629" y="33324"/>
                  <a:pt x="7823" y="31132"/>
                  <a:pt x="6864" y="31337"/>
                </a:cubicBezTo>
                <a:cubicBezTo>
                  <a:pt x="5990" y="31524"/>
                  <a:pt x="6962" y="33663"/>
                  <a:pt x="6102" y="33909"/>
                </a:cubicBezTo>
                <a:cubicBezTo>
                  <a:pt x="4510" y="34364"/>
                  <a:pt x="1911" y="32898"/>
                  <a:pt x="1911" y="31242"/>
                </a:cubicBezTo>
                <a:cubicBezTo>
                  <a:pt x="1911" y="28264"/>
                  <a:pt x="5763" y="25887"/>
                  <a:pt x="5245" y="22955"/>
                </a:cubicBezTo>
                <a:cubicBezTo>
                  <a:pt x="4504" y="18760"/>
                  <a:pt x="3686" y="14563"/>
                  <a:pt x="2482" y="10477"/>
                </a:cubicBezTo>
                <a:cubicBezTo>
                  <a:pt x="1885" y="8452"/>
                  <a:pt x="-697" y="6485"/>
                  <a:pt x="196" y="4572"/>
                </a:cubicBezTo>
                <a:cubicBezTo>
                  <a:pt x="894" y="3076"/>
                  <a:pt x="3982" y="3498"/>
                  <a:pt x="5149" y="466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24fa25ea6d6_0_57"/>
          <p:cNvSpPr/>
          <p:nvPr/>
        </p:nvSpPr>
        <p:spPr>
          <a:xfrm>
            <a:off x="11429575" y="2651258"/>
            <a:ext cx="346875" cy="927175"/>
          </a:xfrm>
          <a:custGeom>
            <a:avLst/>
            <a:gdLst/>
            <a:ahLst/>
            <a:cxnLst/>
            <a:rect l="l" t="t" r="r" b="b"/>
            <a:pathLst>
              <a:path w="13875" h="37087" extrusionOk="0">
                <a:moveTo>
                  <a:pt x="5906" y="3227"/>
                </a:moveTo>
                <a:cubicBezTo>
                  <a:pt x="5906" y="1985"/>
                  <a:pt x="5033" y="-437"/>
                  <a:pt x="3905" y="84"/>
                </a:cubicBezTo>
                <a:cubicBezTo>
                  <a:pt x="2665" y="656"/>
                  <a:pt x="3764" y="2834"/>
                  <a:pt x="4001" y="4179"/>
                </a:cubicBezTo>
                <a:cubicBezTo>
                  <a:pt x="4325" y="6014"/>
                  <a:pt x="0" y="6221"/>
                  <a:pt x="0" y="8085"/>
                </a:cubicBezTo>
                <a:cubicBezTo>
                  <a:pt x="0" y="14470"/>
                  <a:pt x="4286" y="20369"/>
                  <a:pt x="4286" y="26754"/>
                </a:cubicBezTo>
                <a:cubicBezTo>
                  <a:pt x="4286" y="30191"/>
                  <a:pt x="3398" y="38556"/>
                  <a:pt x="6382" y="36850"/>
                </a:cubicBezTo>
                <a:cubicBezTo>
                  <a:pt x="7910" y="35976"/>
                  <a:pt x="5474" y="32398"/>
                  <a:pt x="7049" y="31611"/>
                </a:cubicBezTo>
                <a:cubicBezTo>
                  <a:pt x="8646" y="30813"/>
                  <a:pt x="13329" y="32649"/>
                  <a:pt x="12383" y="31135"/>
                </a:cubicBezTo>
                <a:cubicBezTo>
                  <a:pt x="11494" y="29713"/>
                  <a:pt x="7620" y="31193"/>
                  <a:pt x="7620" y="29516"/>
                </a:cubicBezTo>
                <a:cubicBezTo>
                  <a:pt x="7620" y="27769"/>
                  <a:pt x="11318" y="30433"/>
                  <a:pt x="12859" y="29611"/>
                </a:cubicBezTo>
                <a:cubicBezTo>
                  <a:pt x="14163" y="28916"/>
                  <a:pt x="11945" y="26592"/>
                  <a:pt x="10763" y="25706"/>
                </a:cubicBezTo>
                <a:cubicBezTo>
                  <a:pt x="9080" y="24445"/>
                  <a:pt x="14321" y="22222"/>
                  <a:pt x="13811" y="20181"/>
                </a:cubicBezTo>
                <a:cubicBezTo>
                  <a:pt x="13236" y="17879"/>
                  <a:pt x="7389" y="24418"/>
                  <a:pt x="6953" y="22086"/>
                </a:cubicBezTo>
                <a:cubicBezTo>
                  <a:pt x="6476" y="19537"/>
                  <a:pt x="12618" y="18580"/>
                  <a:pt x="11906" y="16086"/>
                </a:cubicBezTo>
                <a:cubicBezTo>
                  <a:pt x="11303" y="13973"/>
                  <a:pt x="9532" y="12325"/>
                  <a:pt x="7906" y="10847"/>
                </a:cubicBezTo>
                <a:cubicBezTo>
                  <a:pt x="7172" y="10180"/>
                  <a:pt x="6561" y="13065"/>
                  <a:pt x="5620" y="12752"/>
                </a:cubicBezTo>
                <a:cubicBezTo>
                  <a:pt x="4999" y="12546"/>
                  <a:pt x="5737" y="11124"/>
                  <a:pt x="5144" y="10847"/>
                </a:cubicBezTo>
                <a:cubicBezTo>
                  <a:pt x="4411" y="10505"/>
                  <a:pt x="3233" y="9916"/>
                  <a:pt x="3429" y="9132"/>
                </a:cubicBezTo>
                <a:cubicBezTo>
                  <a:pt x="3861" y="7407"/>
                  <a:pt x="7561" y="10443"/>
                  <a:pt x="8763" y="9132"/>
                </a:cubicBezTo>
                <a:cubicBezTo>
                  <a:pt x="10050" y="7728"/>
                  <a:pt x="8131" y="4839"/>
                  <a:pt x="6477" y="389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24fa25ea6d6_0_57"/>
          <p:cNvSpPr/>
          <p:nvPr/>
        </p:nvSpPr>
        <p:spPr>
          <a:xfrm>
            <a:off x="8473927" y="4089238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24fa25ea6d6_0_57"/>
          <p:cNvSpPr/>
          <p:nvPr/>
        </p:nvSpPr>
        <p:spPr>
          <a:xfrm>
            <a:off x="9950670" y="4072588"/>
            <a:ext cx="364375" cy="849825"/>
          </a:xfrm>
          <a:custGeom>
            <a:avLst/>
            <a:gdLst/>
            <a:ahLst/>
            <a:cxnLst/>
            <a:rect l="l" t="t" r="r" b="b"/>
            <a:pathLst>
              <a:path w="14575" h="33993" extrusionOk="0">
                <a:moveTo>
                  <a:pt x="5530" y="5143"/>
                </a:moveTo>
                <a:cubicBezTo>
                  <a:pt x="4779" y="3641"/>
                  <a:pt x="3166" y="1610"/>
                  <a:pt x="4197" y="285"/>
                </a:cubicBezTo>
                <a:cubicBezTo>
                  <a:pt x="5188" y="-988"/>
                  <a:pt x="7054" y="2578"/>
                  <a:pt x="7054" y="4191"/>
                </a:cubicBezTo>
                <a:cubicBezTo>
                  <a:pt x="7054" y="5972"/>
                  <a:pt x="2681" y="3682"/>
                  <a:pt x="1816" y="5238"/>
                </a:cubicBezTo>
                <a:cubicBezTo>
                  <a:pt x="791" y="7082"/>
                  <a:pt x="6959" y="7713"/>
                  <a:pt x="6292" y="9715"/>
                </a:cubicBezTo>
                <a:cubicBezTo>
                  <a:pt x="5513" y="12054"/>
                  <a:pt x="2897" y="16722"/>
                  <a:pt x="5340" y="17049"/>
                </a:cubicBezTo>
                <a:cubicBezTo>
                  <a:pt x="8707" y="17499"/>
                  <a:pt x="5385" y="9278"/>
                  <a:pt x="8102" y="7239"/>
                </a:cubicBezTo>
                <a:cubicBezTo>
                  <a:pt x="10149" y="5703"/>
                  <a:pt x="11870" y="10939"/>
                  <a:pt x="12769" y="13335"/>
                </a:cubicBezTo>
                <a:cubicBezTo>
                  <a:pt x="13091" y="14192"/>
                  <a:pt x="12153" y="15500"/>
                  <a:pt x="11245" y="15621"/>
                </a:cubicBezTo>
                <a:cubicBezTo>
                  <a:pt x="10221" y="15757"/>
                  <a:pt x="13898" y="16888"/>
                  <a:pt x="13436" y="17811"/>
                </a:cubicBezTo>
                <a:cubicBezTo>
                  <a:pt x="12870" y="18942"/>
                  <a:pt x="9838" y="18384"/>
                  <a:pt x="10102" y="19621"/>
                </a:cubicBezTo>
                <a:cubicBezTo>
                  <a:pt x="10421" y="21114"/>
                  <a:pt x="14025" y="19499"/>
                  <a:pt x="14484" y="20955"/>
                </a:cubicBezTo>
                <a:cubicBezTo>
                  <a:pt x="14652" y="21488"/>
                  <a:pt x="14507" y="24906"/>
                  <a:pt x="14198" y="25146"/>
                </a:cubicBezTo>
                <a:cubicBezTo>
                  <a:pt x="13141" y="25969"/>
                  <a:pt x="11408" y="23450"/>
                  <a:pt x="10293" y="24193"/>
                </a:cubicBezTo>
                <a:cubicBezTo>
                  <a:pt x="8895" y="25125"/>
                  <a:pt x="12757" y="27275"/>
                  <a:pt x="12198" y="28860"/>
                </a:cubicBezTo>
                <a:cubicBezTo>
                  <a:pt x="11646" y="30424"/>
                  <a:pt x="7648" y="27728"/>
                  <a:pt x="7245" y="29337"/>
                </a:cubicBezTo>
                <a:cubicBezTo>
                  <a:pt x="6916" y="30653"/>
                  <a:pt x="10552" y="31994"/>
                  <a:pt x="9436" y="32766"/>
                </a:cubicBezTo>
                <a:cubicBezTo>
                  <a:pt x="8629" y="33324"/>
                  <a:pt x="7823" y="31132"/>
                  <a:pt x="6864" y="31337"/>
                </a:cubicBezTo>
                <a:cubicBezTo>
                  <a:pt x="5990" y="31524"/>
                  <a:pt x="6962" y="33663"/>
                  <a:pt x="6102" y="33909"/>
                </a:cubicBezTo>
                <a:cubicBezTo>
                  <a:pt x="4510" y="34364"/>
                  <a:pt x="1911" y="32898"/>
                  <a:pt x="1911" y="31242"/>
                </a:cubicBezTo>
                <a:cubicBezTo>
                  <a:pt x="1911" y="28264"/>
                  <a:pt x="5763" y="25887"/>
                  <a:pt x="5245" y="22955"/>
                </a:cubicBezTo>
                <a:cubicBezTo>
                  <a:pt x="4504" y="18760"/>
                  <a:pt x="3686" y="14563"/>
                  <a:pt x="2482" y="10477"/>
                </a:cubicBezTo>
                <a:cubicBezTo>
                  <a:pt x="1885" y="8452"/>
                  <a:pt x="-697" y="6485"/>
                  <a:pt x="196" y="4572"/>
                </a:cubicBezTo>
                <a:cubicBezTo>
                  <a:pt x="894" y="3076"/>
                  <a:pt x="3982" y="3498"/>
                  <a:pt x="5149" y="4667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24fa25ea6d6_0_57"/>
          <p:cNvSpPr/>
          <p:nvPr/>
        </p:nvSpPr>
        <p:spPr>
          <a:xfrm>
            <a:off x="11429575" y="4022858"/>
            <a:ext cx="346875" cy="927175"/>
          </a:xfrm>
          <a:custGeom>
            <a:avLst/>
            <a:gdLst/>
            <a:ahLst/>
            <a:cxnLst/>
            <a:rect l="l" t="t" r="r" b="b"/>
            <a:pathLst>
              <a:path w="13875" h="37087" extrusionOk="0">
                <a:moveTo>
                  <a:pt x="5906" y="3227"/>
                </a:moveTo>
                <a:cubicBezTo>
                  <a:pt x="5906" y="1985"/>
                  <a:pt x="5033" y="-437"/>
                  <a:pt x="3905" y="84"/>
                </a:cubicBezTo>
                <a:cubicBezTo>
                  <a:pt x="2665" y="656"/>
                  <a:pt x="3764" y="2834"/>
                  <a:pt x="4001" y="4179"/>
                </a:cubicBezTo>
                <a:cubicBezTo>
                  <a:pt x="4325" y="6014"/>
                  <a:pt x="0" y="6221"/>
                  <a:pt x="0" y="8085"/>
                </a:cubicBezTo>
                <a:cubicBezTo>
                  <a:pt x="0" y="14470"/>
                  <a:pt x="4286" y="20369"/>
                  <a:pt x="4286" y="26754"/>
                </a:cubicBezTo>
                <a:cubicBezTo>
                  <a:pt x="4286" y="30191"/>
                  <a:pt x="3398" y="38556"/>
                  <a:pt x="6382" y="36850"/>
                </a:cubicBezTo>
                <a:cubicBezTo>
                  <a:pt x="7910" y="35976"/>
                  <a:pt x="5474" y="32398"/>
                  <a:pt x="7049" y="31611"/>
                </a:cubicBezTo>
                <a:cubicBezTo>
                  <a:pt x="8646" y="30813"/>
                  <a:pt x="13329" y="32649"/>
                  <a:pt x="12383" y="31135"/>
                </a:cubicBezTo>
                <a:cubicBezTo>
                  <a:pt x="11494" y="29713"/>
                  <a:pt x="7620" y="31193"/>
                  <a:pt x="7620" y="29516"/>
                </a:cubicBezTo>
                <a:cubicBezTo>
                  <a:pt x="7620" y="27769"/>
                  <a:pt x="11318" y="30433"/>
                  <a:pt x="12859" y="29611"/>
                </a:cubicBezTo>
                <a:cubicBezTo>
                  <a:pt x="14163" y="28916"/>
                  <a:pt x="11945" y="26592"/>
                  <a:pt x="10763" y="25706"/>
                </a:cubicBezTo>
                <a:cubicBezTo>
                  <a:pt x="9080" y="24445"/>
                  <a:pt x="14321" y="22222"/>
                  <a:pt x="13811" y="20181"/>
                </a:cubicBezTo>
                <a:cubicBezTo>
                  <a:pt x="13236" y="17879"/>
                  <a:pt x="7389" y="24418"/>
                  <a:pt x="6953" y="22086"/>
                </a:cubicBezTo>
                <a:cubicBezTo>
                  <a:pt x="6476" y="19537"/>
                  <a:pt x="12618" y="18580"/>
                  <a:pt x="11906" y="16086"/>
                </a:cubicBezTo>
                <a:cubicBezTo>
                  <a:pt x="11303" y="13973"/>
                  <a:pt x="9532" y="12325"/>
                  <a:pt x="7906" y="10847"/>
                </a:cubicBezTo>
                <a:cubicBezTo>
                  <a:pt x="7172" y="10180"/>
                  <a:pt x="6561" y="13065"/>
                  <a:pt x="5620" y="12752"/>
                </a:cubicBezTo>
                <a:cubicBezTo>
                  <a:pt x="4999" y="12546"/>
                  <a:pt x="5737" y="11124"/>
                  <a:pt x="5144" y="10847"/>
                </a:cubicBezTo>
                <a:cubicBezTo>
                  <a:pt x="4411" y="10505"/>
                  <a:pt x="3233" y="9916"/>
                  <a:pt x="3429" y="9132"/>
                </a:cubicBezTo>
                <a:cubicBezTo>
                  <a:pt x="3861" y="7407"/>
                  <a:pt x="7561" y="10443"/>
                  <a:pt x="8763" y="9132"/>
                </a:cubicBezTo>
                <a:cubicBezTo>
                  <a:pt x="10050" y="7728"/>
                  <a:pt x="8131" y="4839"/>
                  <a:pt x="6477" y="3894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g24fa25ea6d6_0_57"/>
          <p:cNvPicPr preferRelativeResize="0"/>
          <p:nvPr/>
        </p:nvPicPr>
        <p:blipFill rotWithShape="1">
          <a:blip r:embed="rId5">
            <a:alphaModFix/>
          </a:blip>
          <a:srcRect l="13544" t="26973" r="20859" b="11582"/>
          <a:stretch/>
        </p:blipFill>
        <p:spPr>
          <a:xfrm>
            <a:off x="1684462" y="2466100"/>
            <a:ext cx="1335825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g24fa25ea6d6_0_57"/>
          <p:cNvPicPr preferRelativeResize="0"/>
          <p:nvPr/>
        </p:nvPicPr>
        <p:blipFill rotWithShape="1">
          <a:blip r:embed="rId6">
            <a:alphaModFix/>
          </a:blip>
          <a:srcRect l="18365" t="25502" r="24686" b="12688"/>
          <a:stretch/>
        </p:blipFill>
        <p:spPr>
          <a:xfrm>
            <a:off x="3264600" y="2466100"/>
            <a:ext cx="1153859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g24fa25ea6d6_0_57"/>
          <p:cNvPicPr preferRelativeResize="0"/>
          <p:nvPr/>
        </p:nvPicPr>
        <p:blipFill rotWithShape="1">
          <a:blip r:embed="rId7">
            <a:alphaModFix/>
          </a:blip>
          <a:srcRect l="17283" t="29230" r="25768" b="12199"/>
          <a:stretch/>
        </p:blipFill>
        <p:spPr>
          <a:xfrm>
            <a:off x="297775" y="2505724"/>
            <a:ext cx="1142374" cy="12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g24fa25ea6d6_0_57"/>
          <p:cNvPicPr preferRelativeResize="0"/>
          <p:nvPr/>
        </p:nvPicPr>
        <p:blipFill rotWithShape="1">
          <a:blip r:embed="rId8">
            <a:alphaModFix/>
          </a:blip>
          <a:srcRect l="18796" t="26425" r="27297" b="12611"/>
          <a:stretch/>
        </p:blipFill>
        <p:spPr>
          <a:xfrm>
            <a:off x="1798088" y="3816260"/>
            <a:ext cx="1112949" cy="129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g24fa25ea6d6_0_57"/>
          <p:cNvPicPr preferRelativeResize="0"/>
          <p:nvPr/>
        </p:nvPicPr>
        <p:blipFill rotWithShape="1">
          <a:blip r:embed="rId9">
            <a:alphaModFix/>
          </a:blip>
          <a:srcRect l="19025" t="28678" r="26112" b="12913"/>
          <a:stretch/>
        </p:blipFill>
        <p:spPr>
          <a:xfrm>
            <a:off x="331583" y="3854937"/>
            <a:ext cx="1112940" cy="121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g24fa25ea6d6_0_57"/>
          <p:cNvPicPr preferRelativeResize="0"/>
          <p:nvPr/>
        </p:nvPicPr>
        <p:blipFill rotWithShape="1">
          <a:blip r:embed="rId10">
            <a:alphaModFix/>
          </a:blip>
          <a:srcRect l="18491" t="25975" r="26829" b="13811"/>
          <a:stretch/>
        </p:blipFill>
        <p:spPr>
          <a:xfrm>
            <a:off x="3264600" y="3850256"/>
            <a:ext cx="1112949" cy="126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2EEDFBEA-FFDD-9BE7-4E61-F8D8336DF7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C7D1983-9BF5-5E92-CF0B-68BE26ACAB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10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4fa25ea6d6_1_116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0" name="Google Shape;760;g24fa25ea6d6_1_116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g24fa25ea6d6_1_116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g24fa25ea6d6_1_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24fa25ea6d6_1_116"/>
          <p:cNvSpPr txBox="1"/>
          <p:nvPr/>
        </p:nvSpPr>
        <p:spPr>
          <a:xfrm>
            <a:off x="377150" y="858000"/>
            <a:ext cx="11330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Se estima la segmentación con un algoritmo computacional que clasifica cada voxel.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24fa25ea6d6_1_116"/>
          <p:cNvSpPr/>
          <p:nvPr/>
        </p:nvSpPr>
        <p:spPr>
          <a:xfrm rot="5400000">
            <a:off x="1100875" y="2442150"/>
            <a:ext cx="2377200" cy="2692800"/>
          </a:xfrm>
          <a:prstGeom prst="trapezoid">
            <a:avLst>
              <a:gd name="adj" fmla="val 25000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24fa25ea6d6_1_116"/>
          <p:cNvSpPr txBox="1"/>
          <p:nvPr/>
        </p:nvSpPr>
        <p:spPr>
          <a:xfrm>
            <a:off x="521925" y="3332325"/>
            <a:ext cx="3352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        Modelo de ACV.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Deep Learning</a:t>
            </a:r>
            <a:endParaRPr sz="24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6" name="Google Shape;766;g24fa25ea6d6_1_116"/>
          <p:cNvPicPr preferRelativeResize="0"/>
          <p:nvPr/>
        </p:nvPicPr>
        <p:blipFill rotWithShape="1">
          <a:blip r:embed="rId5">
            <a:alphaModFix/>
          </a:blip>
          <a:srcRect l="52195" t="14155" r="28341" b="47524"/>
          <a:stretch/>
        </p:blipFill>
        <p:spPr>
          <a:xfrm>
            <a:off x="8257350" y="2505724"/>
            <a:ext cx="2912662" cy="27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g24fa25ea6d6_1_116"/>
          <p:cNvPicPr preferRelativeResize="0"/>
          <p:nvPr/>
        </p:nvPicPr>
        <p:blipFill rotWithShape="1">
          <a:blip r:embed="rId6">
            <a:alphaModFix/>
          </a:blip>
          <a:srcRect l="13544" t="26973" r="20859" b="11582"/>
          <a:stretch/>
        </p:blipFill>
        <p:spPr>
          <a:xfrm>
            <a:off x="5342062" y="2466100"/>
            <a:ext cx="1335825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24fa25ea6d6_1_116"/>
          <p:cNvPicPr preferRelativeResize="0"/>
          <p:nvPr/>
        </p:nvPicPr>
        <p:blipFill rotWithShape="1">
          <a:blip r:embed="rId7">
            <a:alphaModFix/>
          </a:blip>
          <a:srcRect l="18365" t="25502" r="24686" b="12688"/>
          <a:stretch/>
        </p:blipFill>
        <p:spPr>
          <a:xfrm>
            <a:off x="6922200" y="2466100"/>
            <a:ext cx="1153859" cy="12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g24fa25ea6d6_1_116"/>
          <p:cNvPicPr preferRelativeResize="0"/>
          <p:nvPr/>
        </p:nvPicPr>
        <p:blipFill rotWithShape="1">
          <a:blip r:embed="rId8">
            <a:alphaModFix/>
          </a:blip>
          <a:srcRect l="17283" t="29230" r="25768" b="12199"/>
          <a:stretch/>
        </p:blipFill>
        <p:spPr>
          <a:xfrm>
            <a:off x="3955375" y="2505724"/>
            <a:ext cx="1142374" cy="12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g24fa25ea6d6_1_116"/>
          <p:cNvPicPr preferRelativeResize="0"/>
          <p:nvPr/>
        </p:nvPicPr>
        <p:blipFill rotWithShape="1">
          <a:blip r:embed="rId9">
            <a:alphaModFix/>
          </a:blip>
          <a:srcRect l="18796" t="26425" r="27297" b="12611"/>
          <a:stretch/>
        </p:blipFill>
        <p:spPr>
          <a:xfrm>
            <a:off x="5455688" y="3816260"/>
            <a:ext cx="1112949" cy="129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g24fa25ea6d6_1_116"/>
          <p:cNvPicPr preferRelativeResize="0"/>
          <p:nvPr/>
        </p:nvPicPr>
        <p:blipFill rotWithShape="1">
          <a:blip r:embed="rId10">
            <a:alphaModFix/>
          </a:blip>
          <a:srcRect l="19025" t="28678" r="26112" b="12913"/>
          <a:stretch/>
        </p:blipFill>
        <p:spPr>
          <a:xfrm>
            <a:off x="3989183" y="3854937"/>
            <a:ext cx="1112940" cy="121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g24fa25ea6d6_1_116"/>
          <p:cNvPicPr preferRelativeResize="0"/>
          <p:nvPr/>
        </p:nvPicPr>
        <p:blipFill rotWithShape="1">
          <a:blip r:embed="rId11">
            <a:alphaModFix/>
          </a:blip>
          <a:srcRect l="18491" t="25975" r="26829" b="13811"/>
          <a:stretch/>
        </p:blipFill>
        <p:spPr>
          <a:xfrm>
            <a:off x="6922200" y="3850256"/>
            <a:ext cx="1112949" cy="1260718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g24fa25ea6d6_1_116"/>
          <p:cNvSpPr/>
          <p:nvPr/>
        </p:nvSpPr>
        <p:spPr>
          <a:xfrm>
            <a:off x="4663927" y="2717638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24fa25ea6d6_1_116"/>
          <p:cNvSpPr/>
          <p:nvPr/>
        </p:nvSpPr>
        <p:spPr>
          <a:xfrm>
            <a:off x="6140670" y="2700988"/>
            <a:ext cx="364375" cy="849825"/>
          </a:xfrm>
          <a:custGeom>
            <a:avLst/>
            <a:gdLst/>
            <a:ahLst/>
            <a:cxnLst/>
            <a:rect l="l" t="t" r="r" b="b"/>
            <a:pathLst>
              <a:path w="14575" h="33993" extrusionOk="0">
                <a:moveTo>
                  <a:pt x="5530" y="5143"/>
                </a:moveTo>
                <a:cubicBezTo>
                  <a:pt x="4779" y="3641"/>
                  <a:pt x="3166" y="1610"/>
                  <a:pt x="4197" y="285"/>
                </a:cubicBezTo>
                <a:cubicBezTo>
                  <a:pt x="5188" y="-988"/>
                  <a:pt x="7054" y="2578"/>
                  <a:pt x="7054" y="4191"/>
                </a:cubicBezTo>
                <a:cubicBezTo>
                  <a:pt x="7054" y="5972"/>
                  <a:pt x="2681" y="3682"/>
                  <a:pt x="1816" y="5238"/>
                </a:cubicBezTo>
                <a:cubicBezTo>
                  <a:pt x="791" y="7082"/>
                  <a:pt x="6959" y="7713"/>
                  <a:pt x="6292" y="9715"/>
                </a:cubicBezTo>
                <a:cubicBezTo>
                  <a:pt x="5513" y="12054"/>
                  <a:pt x="2897" y="16722"/>
                  <a:pt x="5340" y="17049"/>
                </a:cubicBezTo>
                <a:cubicBezTo>
                  <a:pt x="8707" y="17499"/>
                  <a:pt x="5385" y="9278"/>
                  <a:pt x="8102" y="7239"/>
                </a:cubicBezTo>
                <a:cubicBezTo>
                  <a:pt x="10149" y="5703"/>
                  <a:pt x="11870" y="10939"/>
                  <a:pt x="12769" y="13335"/>
                </a:cubicBezTo>
                <a:cubicBezTo>
                  <a:pt x="13091" y="14192"/>
                  <a:pt x="12153" y="15500"/>
                  <a:pt x="11245" y="15621"/>
                </a:cubicBezTo>
                <a:cubicBezTo>
                  <a:pt x="10221" y="15757"/>
                  <a:pt x="13898" y="16888"/>
                  <a:pt x="13436" y="17811"/>
                </a:cubicBezTo>
                <a:cubicBezTo>
                  <a:pt x="12870" y="18942"/>
                  <a:pt x="9838" y="18384"/>
                  <a:pt x="10102" y="19621"/>
                </a:cubicBezTo>
                <a:cubicBezTo>
                  <a:pt x="10421" y="21114"/>
                  <a:pt x="14025" y="19499"/>
                  <a:pt x="14484" y="20955"/>
                </a:cubicBezTo>
                <a:cubicBezTo>
                  <a:pt x="14652" y="21488"/>
                  <a:pt x="14507" y="24906"/>
                  <a:pt x="14198" y="25146"/>
                </a:cubicBezTo>
                <a:cubicBezTo>
                  <a:pt x="13141" y="25969"/>
                  <a:pt x="11408" y="23450"/>
                  <a:pt x="10293" y="24193"/>
                </a:cubicBezTo>
                <a:cubicBezTo>
                  <a:pt x="8895" y="25125"/>
                  <a:pt x="12757" y="27275"/>
                  <a:pt x="12198" y="28860"/>
                </a:cubicBezTo>
                <a:cubicBezTo>
                  <a:pt x="11646" y="30424"/>
                  <a:pt x="7648" y="27728"/>
                  <a:pt x="7245" y="29337"/>
                </a:cubicBezTo>
                <a:cubicBezTo>
                  <a:pt x="6916" y="30653"/>
                  <a:pt x="10552" y="31994"/>
                  <a:pt x="9436" y="32766"/>
                </a:cubicBezTo>
                <a:cubicBezTo>
                  <a:pt x="8629" y="33324"/>
                  <a:pt x="7823" y="31132"/>
                  <a:pt x="6864" y="31337"/>
                </a:cubicBezTo>
                <a:cubicBezTo>
                  <a:pt x="5990" y="31524"/>
                  <a:pt x="6962" y="33663"/>
                  <a:pt x="6102" y="33909"/>
                </a:cubicBezTo>
                <a:cubicBezTo>
                  <a:pt x="4510" y="34364"/>
                  <a:pt x="1911" y="32898"/>
                  <a:pt x="1911" y="31242"/>
                </a:cubicBezTo>
                <a:cubicBezTo>
                  <a:pt x="1911" y="28264"/>
                  <a:pt x="5763" y="25887"/>
                  <a:pt x="5245" y="22955"/>
                </a:cubicBezTo>
                <a:cubicBezTo>
                  <a:pt x="4504" y="18760"/>
                  <a:pt x="3686" y="14563"/>
                  <a:pt x="2482" y="10477"/>
                </a:cubicBezTo>
                <a:cubicBezTo>
                  <a:pt x="1885" y="8452"/>
                  <a:pt x="-697" y="6485"/>
                  <a:pt x="196" y="4572"/>
                </a:cubicBezTo>
                <a:cubicBezTo>
                  <a:pt x="894" y="3076"/>
                  <a:pt x="3982" y="3498"/>
                  <a:pt x="5149" y="466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24fa25ea6d6_1_116"/>
          <p:cNvSpPr/>
          <p:nvPr/>
        </p:nvSpPr>
        <p:spPr>
          <a:xfrm>
            <a:off x="7625937" y="2650811"/>
            <a:ext cx="346875" cy="927175"/>
          </a:xfrm>
          <a:custGeom>
            <a:avLst/>
            <a:gdLst/>
            <a:ahLst/>
            <a:cxnLst/>
            <a:rect l="l" t="t" r="r" b="b"/>
            <a:pathLst>
              <a:path w="13875" h="37087" extrusionOk="0">
                <a:moveTo>
                  <a:pt x="5906" y="3227"/>
                </a:moveTo>
                <a:cubicBezTo>
                  <a:pt x="5906" y="1985"/>
                  <a:pt x="5033" y="-437"/>
                  <a:pt x="3905" y="84"/>
                </a:cubicBezTo>
                <a:cubicBezTo>
                  <a:pt x="2665" y="656"/>
                  <a:pt x="3764" y="2834"/>
                  <a:pt x="4001" y="4179"/>
                </a:cubicBezTo>
                <a:cubicBezTo>
                  <a:pt x="4325" y="6014"/>
                  <a:pt x="0" y="6221"/>
                  <a:pt x="0" y="8085"/>
                </a:cubicBezTo>
                <a:cubicBezTo>
                  <a:pt x="0" y="14470"/>
                  <a:pt x="4286" y="20369"/>
                  <a:pt x="4286" y="26754"/>
                </a:cubicBezTo>
                <a:cubicBezTo>
                  <a:pt x="4286" y="30191"/>
                  <a:pt x="3398" y="38556"/>
                  <a:pt x="6382" y="36850"/>
                </a:cubicBezTo>
                <a:cubicBezTo>
                  <a:pt x="7910" y="35976"/>
                  <a:pt x="5474" y="32398"/>
                  <a:pt x="7049" y="31611"/>
                </a:cubicBezTo>
                <a:cubicBezTo>
                  <a:pt x="8646" y="30813"/>
                  <a:pt x="13329" y="32649"/>
                  <a:pt x="12383" y="31135"/>
                </a:cubicBezTo>
                <a:cubicBezTo>
                  <a:pt x="11494" y="29713"/>
                  <a:pt x="7620" y="31193"/>
                  <a:pt x="7620" y="29516"/>
                </a:cubicBezTo>
                <a:cubicBezTo>
                  <a:pt x="7620" y="27769"/>
                  <a:pt x="11318" y="30433"/>
                  <a:pt x="12859" y="29611"/>
                </a:cubicBezTo>
                <a:cubicBezTo>
                  <a:pt x="14163" y="28916"/>
                  <a:pt x="11945" y="26592"/>
                  <a:pt x="10763" y="25706"/>
                </a:cubicBezTo>
                <a:cubicBezTo>
                  <a:pt x="9080" y="24445"/>
                  <a:pt x="14321" y="22222"/>
                  <a:pt x="13811" y="20181"/>
                </a:cubicBezTo>
                <a:cubicBezTo>
                  <a:pt x="13236" y="17879"/>
                  <a:pt x="7389" y="24418"/>
                  <a:pt x="6953" y="22086"/>
                </a:cubicBezTo>
                <a:cubicBezTo>
                  <a:pt x="6476" y="19537"/>
                  <a:pt x="12618" y="18580"/>
                  <a:pt x="11906" y="16086"/>
                </a:cubicBezTo>
                <a:cubicBezTo>
                  <a:pt x="11303" y="13973"/>
                  <a:pt x="9532" y="12325"/>
                  <a:pt x="7906" y="10847"/>
                </a:cubicBezTo>
                <a:cubicBezTo>
                  <a:pt x="7172" y="10180"/>
                  <a:pt x="6561" y="13065"/>
                  <a:pt x="5620" y="12752"/>
                </a:cubicBezTo>
                <a:cubicBezTo>
                  <a:pt x="4999" y="12546"/>
                  <a:pt x="5737" y="11124"/>
                  <a:pt x="5144" y="10847"/>
                </a:cubicBezTo>
                <a:cubicBezTo>
                  <a:pt x="4411" y="10505"/>
                  <a:pt x="3233" y="9916"/>
                  <a:pt x="3429" y="9132"/>
                </a:cubicBezTo>
                <a:cubicBezTo>
                  <a:pt x="3861" y="7407"/>
                  <a:pt x="7561" y="10443"/>
                  <a:pt x="8763" y="9132"/>
                </a:cubicBezTo>
                <a:cubicBezTo>
                  <a:pt x="10050" y="7728"/>
                  <a:pt x="8131" y="4839"/>
                  <a:pt x="6477" y="389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24fa25ea6d6_1_116"/>
          <p:cNvSpPr/>
          <p:nvPr/>
        </p:nvSpPr>
        <p:spPr>
          <a:xfrm>
            <a:off x="4663927" y="4089238"/>
            <a:ext cx="352925" cy="838200"/>
          </a:xfrm>
          <a:custGeom>
            <a:avLst/>
            <a:gdLst/>
            <a:ahLst/>
            <a:cxnLst/>
            <a:rect l="l" t="t" r="r" b="b"/>
            <a:pathLst>
              <a:path w="14117" h="33528" extrusionOk="0">
                <a:moveTo>
                  <a:pt x="2974" y="33528"/>
                </a:moveTo>
                <a:cubicBezTo>
                  <a:pt x="-2975" y="32869"/>
                  <a:pt x="8896" y="21637"/>
                  <a:pt x="6879" y="16002"/>
                </a:cubicBezTo>
                <a:cubicBezTo>
                  <a:pt x="6316" y="14429"/>
                  <a:pt x="3686" y="14371"/>
                  <a:pt x="2974" y="12859"/>
                </a:cubicBezTo>
                <a:cubicBezTo>
                  <a:pt x="1145" y="8972"/>
                  <a:pt x="-2180" y="0"/>
                  <a:pt x="2116" y="0"/>
                </a:cubicBezTo>
                <a:cubicBezTo>
                  <a:pt x="3941" y="0"/>
                  <a:pt x="5882" y="2381"/>
                  <a:pt x="5641" y="4191"/>
                </a:cubicBezTo>
                <a:cubicBezTo>
                  <a:pt x="5459" y="5558"/>
                  <a:pt x="1062" y="3987"/>
                  <a:pt x="1640" y="5239"/>
                </a:cubicBezTo>
                <a:cubicBezTo>
                  <a:pt x="2146" y="6335"/>
                  <a:pt x="4517" y="6130"/>
                  <a:pt x="4593" y="7335"/>
                </a:cubicBezTo>
                <a:cubicBezTo>
                  <a:pt x="4720" y="9349"/>
                  <a:pt x="4730" y="13826"/>
                  <a:pt x="6593" y="13050"/>
                </a:cubicBezTo>
                <a:cubicBezTo>
                  <a:pt x="9192" y="11968"/>
                  <a:pt x="4870" y="5170"/>
                  <a:pt x="7641" y="4668"/>
                </a:cubicBezTo>
                <a:cubicBezTo>
                  <a:pt x="9528" y="4326"/>
                  <a:pt x="9081" y="8236"/>
                  <a:pt x="9546" y="10097"/>
                </a:cubicBezTo>
                <a:cubicBezTo>
                  <a:pt x="9960" y="11751"/>
                  <a:pt x="13260" y="11048"/>
                  <a:pt x="14023" y="12573"/>
                </a:cubicBezTo>
                <a:cubicBezTo>
                  <a:pt x="14983" y="14491"/>
                  <a:pt x="8112" y="13391"/>
                  <a:pt x="8308" y="15526"/>
                </a:cubicBezTo>
                <a:cubicBezTo>
                  <a:pt x="8488" y="17492"/>
                  <a:pt x="12617" y="16546"/>
                  <a:pt x="13546" y="18288"/>
                </a:cubicBezTo>
                <a:cubicBezTo>
                  <a:pt x="14114" y="19353"/>
                  <a:pt x="11801" y="20384"/>
                  <a:pt x="10594" y="20384"/>
                </a:cubicBezTo>
                <a:cubicBezTo>
                  <a:pt x="9813" y="20384"/>
                  <a:pt x="12193" y="21927"/>
                  <a:pt x="11641" y="22479"/>
                </a:cubicBezTo>
                <a:cubicBezTo>
                  <a:pt x="10860" y="23260"/>
                  <a:pt x="13428" y="24802"/>
                  <a:pt x="12689" y="25623"/>
                </a:cubicBezTo>
                <a:cubicBezTo>
                  <a:pt x="11859" y="26545"/>
                  <a:pt x="10098" y="24908"/>
                  <a:pt x="8974" y="25432"/>
                </a:cubicBezTo>
                <a:cubicBezTo>
                  <a:pt x="6016" y="26812"/>
                  <a:pt x="4688" y="30409"/>
                  <a:pt x="3069" y="33243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24fa25ea6d6_1_116"/>
          <p:cNvSpPr/>
          <p:nvPr/>
        </p:nvSpPr>
        <p:spPr>
          <a:xfrm>
            <a:off x="6140670" y="4072588"/>
            <a:ext cx="364375" cy="849825"/>
          </a:xfrm>
          <a:custGeom>
            <a:avLst/>
            <a:gdLst/>
            <a:ahLst/>
            <a:cxnLst/>
            <a:rect l="l" t="t" r="r" b="b"/>
            <a:pathLst>
              <a:path w="14575" h="33993" extrusionOk="0">
                <a:moveTo>
                  <a:pt x="5530" y="5143"/>
                </a:moveTo>
                <a:cubicBezTo>
                  <a:pt x="4779" y="3641"/>
                  <a:pt x="3166" y="1610"/>
                  <a:pt x="4197" y="285"/>
                </a:cubicBezTo>
                <a:cubicBezTo>
                  <a:pt x="5188" y="-988"/>
                  <a:pt x="7054" y="2578"/>
                  <a:pt x="7054" y="4191"/>
                </a:cubicBezTo>
                <a:cubicBezTo>
                  <a:pt x="7054" y="5972"/>
                  <a:pt x="2681" y="3682"/>
                  <a:pt x="1816" y="5238"/>
                </a:cubicBezTo>
                <a:cubicBezTo>
                  <a:pt x="791" y="7082"/>
                  <a:pt x="6959" y="7713"/>
                  <a:pt x="6292" y="9715"/>
                </a:cubicBezTo>
                <a:cubicBezTo>
                  <a:pt x="5513" y="12054"/>
                  <a:pt x="2897" y="16722"/>
                  <a:pt x="5340" y="17049"/>
                </a:cubicBezTo>
                <a:cubicBezTo>
                  <a:pt x="8707" y="17499"/>
                  <a:pt x="5385" y="9278"/>
                  <a:pt x="8102" y="7239"/>
                </a:cubicBezTo>
                <a:cubicBezTo>
                  <a:pt x="10149" y="5703"/>
                  <a:pt x="11870" y="10939"/>
                  <a:pt x="12769" y="13335"/>
                </a:cubicBezTo>
                <a:cubicBezTo>
                  <a:pt x="13091" y="14192"/>
                  <a:pt x="12153" y="15500"/>
                  <a:pt x="11245" y="15621"/>
                </a:cubicBezTo>
                <a:cubicBezTo>
                  <a:pt x="10221" y="15757"/>
                  <a:pt x="13898" y="16888"/>
                  <a:pt x="13436" y="17811"/>
                </a:cubicBezTo>
                <a:cubicBezTo>
                  <a:pt x="12870" y="18942"/>
                  <a:pt x="9838" y="18384"/>
                  <a:pt x="10102" y="19621"/>
                </a:cubicBezTo>
                <a:cubicBezTo>
                  <a:pt x="10421" y="21114"/>
                  <a:pt x="14025" y="19499"/>
                  <a:pt x="14484" y="20955"/>
                </a:cubicBezTo>
                <a:cubicBezTo>
                  <a:pt x="14652" y="21488"/>
                  <a:pt x="14507" y="24906"/>
                  <a:pt x="14198" y="25146"/>
                </a:cubicBezTo>
                <a:cubicBezTo>
                  <a:pt x="13141" y="25969"/>
                  <a:pt x="11408" y="23450"/>
                  <a:pt x="10293" y="24193"/>
                </a:cubicBezTo>
                <a:cubicBezTo>
                  <a:pt x="8895" y="25125"/>
                  <a:pt x="12757" y="27275"/>
                  <a:pt x="12198" y="28860"/>
                </a:cubicBezTo>
                <a:cubicBezTo>
                  <a:pt x="11646" y="30424"/>
                  <a:pt x="7648" y="27728"/>
                  <a:pt x="7245" y="29337"/>
                </a:cubicBezTo>
                <a:cubicBezTo>
                  <a:pt x="6916" y="30653"/>
                  <a:pt x="10552" y="31994"/>
                  <a:pt x="9436" y="32766"/>
                </a:cubicBezTo>
                <a:cubicBezTo>
                  <a:pt x="8629" y="33324"/>
                  <a:pt x="7823" y="31132"/>
                  <a:pt x="6864" y="31337"/>
                </a:cubicBezTo>
                <a:cubicBezTo>
                  <a:pt x="5990" y="31524"/>
                  <a:pt x="6962" y="33663"/>
                  <a:pt x="6102" y="33909"/>
                </a:cubicBezTo>
                <a:cubicBezTo>
                  <a:pt x="4510" y="34364"/>
                  <a:pt x="1911" y="32898"/>
                  <a:pt x="1911" y="31242"/>
                </a:cubicBezTo>
                <a:cubicBezTo>
                  <a:pt x="1911" y="28264"/>
                  <a:pt x="5763" y="25887"/>
                  <a:pt x="5245" y="22955"/>
                </a:cubicBezTo>
                <a:cubicBezTo>
                  <a:pt x="4504" y="18760"/>
                  <a:pt x="3686" y="14563"/>
                  <a:pt x="2482" y="10477"/>
                </a:cubicBezTo>
                <a:cubicBezTo>
                  <a:pt x="1885" y="8452"/>
                  <a:pt x="-697" y="6485"/>
                  <a:pt x="196" y="4572"/>
                </a:cubicBezTo>
                <a:cubicBezTo>
                  <a:pt x="894" y="3076"/>
                  <a:pt x="3982" y="3498"/>
                  <a:pt x="5149" y="4667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24fa25ea6d6_1_116"/>
          <p:cNvSpPr/>
          <p:nvPr/>
        </p:nvSpPr>
        <p:spPr>
          <a:xfrm>
            <a:off x="7695775" y="4022858"/>
            <a:ext cx="346875" cy="927175"/>
          </a:xfrm>
          <a:custGeom>
            <a:avLst/>
            <a:gdLst/>
            <a:ahLst/>
            <a:cxnLst/>
            <a:rect l="l" t="t" r="r" b="b"/>
            <a:pathLst>
              <a:path w="13875" h="37087" extrusionOk="0">
                <a:moveTo>
                  <a:pt x="5906" y="3227"/>
                </a:moveTo>
                <a:cubicBezTo>
                  <a:pt x="5906" y="1985"/>
                  <a:pt x="5033" y="-437"/>
                  <a:pt x="3905" y="84"/>
                </a:cubicBezTo>
                <a:cubicBezTo>
                  <a:pt x="2665" y="656"/>
                  <a:pt x="3764" y="2834"/>
                  <a:pt x="4001" y="4179"/>
                </a:cubicBezTo>
                <a:cubicBezTo>
                  <a:pt x="4325" y="6014"/>
                  <a:pt x="0" y="6221"/>
                  <a:pt x="0" y="8085"/>
                </a:cubicBezTo>
                <a:cubicBezTo>
                  <a:pt x="0" y="14470"/>
                  <a:pt x="4286" y="20369"/>
                  <a:pt x="4286" y="26754"/>
                </a:cubicBezTo>
                <a:cubicBezTo>
                  <a:pt x="4286" y="30191"/>
                  <a:pt x="3398" y="38556"/>
                  <a:pt x="6382" y="36850"/>
                </a:cubicBezTo>
                <a:cubicBezTo>
                  <a:pt x="7910" y="35976"/>
                  <a:pt x="5474" y="32398"/>
                  <a:pt x="7049" y="31611"/>
                </a:cubicBezTo>
                <a:cubicBezTo>
                  <a:pt x="8646" y="30813"/>
                  <a:pt x="13329" y="32649"/>
                  <a:pt x="12383" y="31135"/>
                </a:cubicBezTo>
                <a:cubicBezTo>
                  <a:pt x="11494" y="29713"/>
                  <a:pt x="7620" y="31193"/>
                  <a:pt x="7620" y="29516"/>
                </a:cubicBezTo>
                <a:cubicBezTo>
                  <a:pt x="7620" y="27769"/>
                  <a:pt x="11318" y="30433"/>
                  <a:pt x="12859" y="29611"/>
                </a:cubicBezTo>
                <a:cubicBezTo>
                  <a:pt x="14163" y="28916"/>
                  <a:pt x="11945" y="26592"/>
                  <a:pt x="10763" y="25706"/>
                </a:cubicBezTo>
                <a:cubicBezTo>
                  <a:pt x="9080" y="24445"/>
                  <a:pt x="14321" y="22222"/>
                  <a:pt x="13811" y="20181"/>
                </a:cubicBezTo>
                <a:cubicBezTo>
                  <a:pt x="13236" y="17879"/>
                  <a:pt x="7389" y="24418"/>
                  <a:pt x="6953" y="22086"/>
                </a:cubicBezTo>
                <a:cubicBezTo>
                  <a:pt x="6476" y="19537"/>
                  <a:pt x="12618" y="18580"/>
                  <a:pt x="11906" y="16086"/>
                </a:cubicBezTo>
                <a:cubicBezTo>
                  <a:pt x="11303" y="13973"/>
                  <a:pt x="9532" y="12325"/>
                  <a:pt x="7906" y="10847"/>
                </a:cubicBezTo>
                <a:cubicBezTo>
                  <a:pt x="7172" y="10180"/>
                  <a:pt x="6561" y="13065"/>
                  <a:pt x="5620" y="12752"/>
                </a:cubicBezTo>
                <a:cubicBezTo>
                  <a:pt x="4999" y="12546"/>
                  <a:pt x="5737" y="11124"/>
                  <a:pt x="5144" y="10847"/>
                </a:cubicBezTo>
                <a:cubicBezTo>
                  <a:pt x="4411" y="10505"/>
                  <a:pt x="3233" y="9916"/>
                  <a:pt x="3429" y="9132"/>
                </a:cubicBezTo>
                <a:cubicBezTo>
                  <a:pt x="3861" y="7407"/>
                  <a:pt x="7561" y="10443"/>
                  <a:pt x="8763" y="9132"/>
                </a:cubicBezTo>
                <a:cubicBezTo>
                  <a:pt x="10050" y="7728"/>
                  <a:pt x="8131" y="4839"/>
                  <a:pt x="6477" y="3894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9E5E2CB8-08C7-13CE-451E-B0274B2ACD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806AEB5A-CAD0-194E-653B-FC6FEEA2D7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4fa25ea6d6_1_0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5" name="Google Shape;785;g24fa25ea6d6_1_0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6" name="Google Shape;786;g24fa25ea6d6_1_0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g24fa25ea6d6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g24fa25ea6d6_1_0"/>
          <p:cNvSpPr txBox="1"/>
          <p:nvPr/>
        </p:nvSpPr>
        <p:spPr>
          <a:xfrm>
            <a:off x="377150" y="858000"/>
            <a:ext cx="11330700" cy="1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Se estima la segmentación con un algoritmo computacional que clasifica cada voxel.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3. Cálculo de diferentes métricas de interés: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24fa25ea6d6_1_0"/>
          <p:cNvSpPr txBox="1"/>
          <p:nvPr/>
        </p:nvSpPr>
        <p:spPr>
          <a:xfrm>
            <a:off x="935838" y="2126100"/>
            <a:ext cx="29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Métricas de solapamiento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g24fa25ea6d6_1_0"/>
          <p:cNvPicPr preferRelativeResize="0"/>
          <p:nvPr/>
        </p:nvPicPr>
        <p:blipFill rotWithShape="1">
          <a:blip r:embed="rId5">
            <a:alphaModFix/>
          </a:blip>
          <a:srcRect b="37350"/>
          <a:stretch/>
        </p:blipFill>
        <p:spPr>
          <a:xfrm>
            <a:off x="230500" y="2629100"/>
            <a:ext cx="4361475" cy="1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g24fa25ea6d6_1_0"/>
          <p:cNvPicPr preferRelativeResize="0"/>
          <p:nvPr/>
        </p:nvPicPr>
        <p:blipFill rotWithShape="1">
          <a:blip r:embed="rId5">
            <a:alphaModFix/>
          </a:blip>
          <a:srcRect l="2066" t="66281" b="585"/>
          <a:stretch/>
        </p:blipFill>
        <p:spPr>
          <a:xfrm>
            <a:off x="343635" y="4214050"/>
            <a:ext cx="4271199" cy="838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2" name="Google Shape;792;g24fa25ea6d6_1_0"/>
          <p:cNvCxnSpPr/>
          <p:nvPr/>
        </p:nvCxnSpPr>
        <p:spPr>
          <a:xfrm>
            <a:off x="354025" y="5317031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3" name="Google Shape;793;g24fa25ea6d6_1_0"/>
          <p:cNvSpPr txBox="1"/>
          <p:nvPr/>
        </p:nvSpPr>
        <p:spPr>
          <a:xfrm>
            <a:off x="354025" y="5273125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Maier-Hein, L., et al. "Metrics reloaded: Recommendations for image analysis validation." arXiv (2023).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39B85621-07FF-5058-EA2D-FA130148B2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8F9FB75B-E74F-846A-C263-71B6C6527A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4fa25ea6d6_1_66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0" name="Google Shape;800;g24fa25ea6d6_1_66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g24fa25ea6d6_1_66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g24fa25ea6d6_1_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g24fa25ea6d6_1_66"/>
          <p:cNvSpPr txBox="1"/>
          <p:nvPr/>
        </p:nvSpPr>
        <p:spPr>
          <a:xfrm>
            <a:off x="377150" y="858000"/>
            <a:ext cx="11330700" cy="1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Se estima la segmentación con un algoritmo computacional que clasifica cada voxel.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3. Cálculo de diferentes métricas de interés: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24fa25ea6d6_1_66"/>
          <p:cNvSpPr txBox="1"/>
          <p:nvPr/>
        </p:nvSpPr>
        <p:spPr>
          <a:xfrm>
            <a:off x="935838" y="2126100"/>
            <a:ext cx="29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Métricas de solapamiento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24fa25ea6d6_1_66"/>
          <p:cNvSpPr txBox="1"/>
          <p:nvPr/>
        </p:nvSpPr>
        <p:spPr>
          <a:xfrm>
            <a:off x="4670900" y="2126100"/>
            <a:ext cx="392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Distancias entre bordes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6" name="Google Shape;806;g24fa25ea6d6_1_66"/>
          <p:cNvPicPr preferRelativeResize="0"/>
          <p:nvPr/>
        </p:nvPicPr>
        <p:blipFill rotWithShape="1">
          <a:blip r:embed="rId5">
            <a:alphaModFix/>
          </a:blip>
          <a:srcRect b="37350"/>
          <a:stretch/>
        </p:blipFill>
        <p:spPr>
          <a:xfrm>
            <a:off x="230500" y="2629100"/>
            <a:ext cx="4361475" cy="1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g24fa25ea6d6_1_66"/>
          <p:cNvPicPr preferRelativeResize="0"/>
          <p:nvPr/>
        </p:nvPicPr>
        <p:blipFill rotWithShape="1">
          <a:blip r:embed="rId5">
            <a:alphaModFix/>
          </a:blip>
          <a:srcRect l="2066" t="66281" b="585"/>
          <a:stretch/>
        </p:blipFill>
        <p:spPr>
          <a:xfrm>
            <a:off x="343635" y="4214050"/>
            <a:ext cx="4271199" cy="83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g24fa25ea6d6_1_66"/>
          <p:cNvPicPr preferRelativeResize="0"/>
          <p:nvPr/>
        </p:nvPicPr>
        <p:blipFill rotWithShape="1">
          <a:blip r:embed="rId6">
            <a:alphaModFix/>
          </a:blip>
          <a:srcRect b="4652"/>
          <a:stretch/>
        </p:blipFill>
        <p:spPr>
          <a:xfrm>
            <a:off x="4670900" y="2552900"/>
            <a:ext cx="3921000" cy="26950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9" name="Google Shape;809;g24fa25ea6d6_1_66"/>
          <p:cNvCxnSpPr/>
          <p:nvPr/>
        </p:nvCxnSpPr>
        <p:spPr>
          <a:xfrm>
            <a:off x="354025" y="5317031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0" name="Google Shape;810;g24fa25ea6d6_1_66"/>
          <p:cNvSpPr txBox="1"/>
          <p:nvPr/>
        </p:nvSpPr>
        <p:spPr>
          <a:xfrm>
            <a:off x="354025" y="5273125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Maier-Hein, L., et al. "Metrics reloaded: Recommendations for image analysis validation." arXiv (2023).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7270A3BA-C50E-2ACE-81B1-A970D396E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748C469C-0461-343D-3882-E7F497FA2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4fa25ea6d6_1_87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0909"/>
              <a:buFont typeface="Raleway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Segmentación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7" name="Google Shape;817;g24fa25ea6d6_1_87"/>
          <p:cNvSpPr/>
          <p:nvPr/>
        </p:nvSpPr>
        <p:spPr>
          <a:xfrm>
            <a:off x="99200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g24fa25ea6d6_1_87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g24fa25ea6d6_1_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g24fa25ea6d6_1_87"/>
          <p:cNvSpPr txBox="1"/>
          <p:nvPr/>
        </p:nvSpPr>
        <p:spPr>
          <a:xfrm>
            <a:off x="377150" y="858000"/>
            <a:ext cx="11330700" cy="1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Se adquiere un estudio de cierta modalidad de imagen médica.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Se estima la segmentación con un algoritmo computacional que clasifica cada voxel.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3. Cálculo de diferentes métricas de interés:</a:t>
            </a:r>
            <a:endParaRPr sz="24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24fa25ea6d6_1_87"/>
          <p:cNvSpPr txBox="1"/>
          <p:nvPr/>
        </p:nvSpPr>
        <p:spPr>
          <a:xfrm>
            <a:off x="935838" y="2126100"/>
            <a:ext cx="29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Métricas de solapamiento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24fa25ea6d6_1_87"/>
          <p:cNvSpPr txBox="1"/>
          <p:nvPr/>
        </p:nvSpPr>
        <p:spPr>
          <a:xfrm>
            <a:off x="4670900" y="2126100"/>
            <a:ext cx="392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Distancias entre bordes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g24fa25ea6d6_1_87"/>
          <p:cNvSpPr txBox="1"/>
          <p:nvPr/>
        </p:nvSpPr>
        <p:spPr>
          <a:xfrm>
            <a:off x="8821250" y="2126100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Métricas de conteo 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4" name="Google Shape;824;g24fa25ea6d6_1_87"/>
          <p:cNvPicPr preferRelativeResize="0"/>
          <p:nvPr/>
        </p:nvPicPr>
        <p:blipFill rotWithShape="1">
          <a:blip r:embed="rId5">
            <a:alphaModFix/>
          </a:blip>
          <a:srcRect b="37350"/>
          <a:stretch/>
        </p:blipFill>
        <p:spPr>
          <a:xfrm>
            <a:off x="230500" y="2629100"/>
            <a:ext cx="4361475" cy="1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g24fa25ea6d6_1_87"/>
          <p:cNvPicPr preferRelativeResize="0"/>
          <p:nvPr/>
        </p:nvPicPr>
        <p:blipFill rotWithShape="1">
          <a:blip r:embed="rId5">
            <a:alphaModFix/>
          </a:blip>
          <a:srcRect l="2066" t="66281" b="585"/>
          <a:stretch/>
        </p:blipFill>
        <p:spPr>
          <a:xfrm>
            <a:off x="343635" y="4214050"/>
            <a:ext cx="4271199" cy="83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g24fa25ea6d6_1_87"/>
          <p:cNvPicPr preferRelativeResize="0"/>
          <p:nvPr/>
        </p:nvPicPr>
        <p:blipFill rotWithShape="1">
          <a:blip r:embed="rId6">
            <a:alphaModFix/>
          </a:blip>
          <a:srcRect b="4652"/>
          <a:stretch/>
        </p:blipFill>
        <p:spPr>
          <a:xfrm>
            <a:off x="4670900" y="2552900"/>
            <a:ext cx="3921000" cy="2695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g24fa25ea6d6_1_87"/>
          <p:cNvPicPr preferRelativeResize="0"/>
          <p:nvPr/>
        </p:nvPicPr>
        <p:blipFill rotWithShape="1">
          <a:blip r:embed="rId7">
            <a:alphaModFix/>
          </a:blip>
          <a:srcRect b="45420"/>
          <a:stretch/>
        </p:blipFill>
        <p:spPr>
          <a:xfrm>
            <a:off x="8647975" y="2709900"/>
            <a:ext cx="1457325" cy="129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g24fa25ea6d6_1_87"/>
          <p:cNvPicPr preferRelativeResize="0"/>
          <p:nvPr/>
        </p:nvPicPr>
        <p:blipFill rotWithShape="1">
          <a:blip r:embed="rId7">
            <a:alphaModFix/>
          </a:blip>
          <a:srcRect l="9155" t="62466" r="8809" b="8666"/>
          <a:stretch/>
        </p:blipFill>
        <p:spPr>
          <a:xfrm>
            <a:off x="10046200" y="2797060"/>
            <a:ext cx="1920690" cy="110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g24fa25ea6d6_1_87"/>
          <p:cNvPicPr preferRelativeResize="0"/>
          <p:nvPr/>
        </p:nvPicPr>
        <p:blipFill rotWithShape="1">
          <a:blip r:embed="rId7">
            <a:alphaModFix/>
          </a:blip>
          <a:srcRect t="53047" b="37544"/>
          <a:stretch/>
        </p:blipFill>
        <p:spPr>
          <a:xfrm>
            <a:off x="8647975" y="4173650"/>
            <a:ext cx="3309550" cy="5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g24fa25ea6d6_1_87"/>
          <p:cNvPicPr preferRelativeResize="0"/>
          <p:nvPr/>
        </p:nvPicPr>
        <p:blipFill rotWithShape="1">
          <a:blip r:embed="rId7">
            <a:alphaModFix/>
          </a:blip>
          <a:srcRect t="91114" b="-522"/>
          <a:stretch/>
        </p:blipFill>
        <p:spPr>
          <a:xfrm>
            <a:off x="8647975" y="4630850"/>
            <a:ext cx="3309550" cy="506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1" name="Google Shape;831;g24fa25ea6d6_1_87"/>
          <p:cNvCxnSpPr/>
          <p:nvPr/>
        </p:nvCxnSpPr>
        <p:spPr>
          <a:xfrm>
            <a:off x="354025" y="5317031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2" name="Google Shape;832;g24fa25ea6d6_1_87"/>
          <p:cNvSpPr txBox="1"/>
          <p:nvPr/>
        </p:nvSpPr>
        <p:spPr>
          <a:xfrm>
            <a:off x="354025" y="5273125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Maier-Hein, L., et al. "Metrics reloaded: Recommendations for image analysis validation." arXiv (2023).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03FEA3CE-C22B-12C2-A9BE-6AB70F4B6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1A3D6437-CF49-D582-6EF3-27AD655A09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16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839" name="Google Shape;839;p16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6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1" name="Google Shape;841;p16"/>
          <p:cNvSpPr txBox="1">
            <a:spLocks noGrp="1"/>
          </p:cNvSpPr>
          <p:nvPr>
            <p:ph type="title"/>
          </p:nvPr>
        </p:nvSpPr>
        <p:spPr>
          <a:xfrm>
            <a:off x="19217" y="887617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ES" sz="4800" b="1" dirty="0">
                <a:solidFill>
                  <a:srgbClr val="FF0000"/>
                </a:solidFill>
              </a:rPr>
              <a:t>SÍNTESIS DE IMÁGENES</a:t>
            </a:r>
            <a:endParaRPr sz="4800" b="1" dirty="0">
              <a:solidFill>
                <a:srgbClr val="FF0000"/>
              </a:solidFill>
            </a:endParaRPr>
          </a:p>
        </p:txBody>
      </p:sp>
      <p:sp>
        <p:nvSpPr>
          <p:cNvPr id="842" name="Google Shape;842;p16"/>
          <p:cNvSpPr/>
          <p:nvPr/>
        </p:nvSpPr>
        <p:spPr>
          <a:xfrm>
            <a:off x="145367" y="5681433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p16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45374" y="5681425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0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085C4D7E-037B-0356-0302-561D97722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F9420D34-4682-177F-4267-184EF449A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e9728b4443_0_5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Síntesis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53" name="Google Shape;653;g1e9728b4443_0_5"/>
          <p:cNvSpPr/>
          <p:nvPr/>
        </p:nvSpPr>
        <p:spPr>
          <a:xfrm>
            <a:off x="99201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g1e9728b4443_0_5"/>
          <p:cNvPicPr preferRelativeResize="0"/>
          <p:nvPr/>
        </p:nvPicPr>
        <p:blipFill rotWithShape="1">
          <a:blip r:embed="rId3">
            <a:alphaModFix/>
          </a:blip>
          <a:srcRect l="7345" t="14297" r="6134" b="10133"/>
          <a:stretch/>
        </p:blipFill>
        <p:spPr>
          <a:xfrm>
            <a:off x="145373" y="5681426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g1e9728b4443_0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2"/>
            <a:ext cx="1687800" cy="11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1e9728b4443_0_5" descr="Texto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9358" y="5683136"/>
            <a:ext cx="4302641" cy="1028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g1e9728b4443_0_5"/>
          <p:cNvCxnSpPr/>
          <p:nvPr/>
        </p:nvCxnSpPr>
        <p:spPr>
          <a:xfrm>
            <a:off x="354025" y="5164631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8" name="Google Shape;658;g1e9728b4443_0_5"/>
          <p:cNvSpPr txBox="1"/>
          <p:nvPr/>
        </p:nvSpPr>
        <p:spPr>
          <a:xfrm>
            <a:off x="354025" y="5120725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Wu, W., Hu, D., Cong, W., Shan, H., Wang, S., Niu, C., ... &amp; Wang, G. (2022). Stabilizing deep tomographic reconstruction: Part A. Hybrid framework and experimental results. Patterns, 3(5).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9" name="Google Shape;659;g1e9728b4443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925" y="746625"/>
            <a:ext cx="6512952" cy="421687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1e9728b4443_0_5"/>
          <p:cNvSpPr txBox="1"/>
          <p:nvPr/>
        </p:nvSpPr>
        <p:spPr>
          <a:xfrm>
            <a:off x="7451125" y="2162175"/>
            <a:ext cx="4302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alibri"/>
                <a:ea typeface="Calibri"/>
                <a:cs typeface="Calibri"/>
                <a:sym typeface="Calibri"/>
              </a:rPr>
              <a:t>Ejemplos de imágenes afectadas por </a:t>
            </a:r>
            <a:r>
              <a:rPr lang="es-E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ruido</a:t>
            </a:r>
            <a:r>
              <a:rPr lang="es-ES" sz="2000">
                <a:latin typeface="Calibri"/>
                <a:ea typeface="Calibri"/>
                <a:cs typeface="Calibri"/>
                <a:sym typeface="Calibri"/>
              </a:rPr>
              <a:t> (primera columna), y su correspondiente eliminación del ruido (columnas 2 y 3)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1e9728b4443_0_5"/>
          <p:cNvSpPr/>
          <p:nvPr/>
        </p:nvSpPr>
        <p:spPr>
          <a:xfrm>
            <a:off x="1171575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1e9728b4443_0_5"/>
          <p:cNvSpPr/>
          <p:nvPr/>
        </p:nvSpPr>
        <p:spPr>
          <a:xfrm>
            <a:off x="1195400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1e9728b4443_0_5"/>
          <p:cNvSpPr/>
          <p:nvPr/>
        </p:nvSpPr>
        <p:spPr>
          <a:xfrm>
            <a:off x="3371850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1e9728b4443_0_5"/>
          <p:cNvSpPr/>
          <p:nvPr/>
        </p:nvSpPr>
        <p:spPr>
          <a:xfrm>
            <a:off x="5591163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1e9728b4443_0_5"/>
          <p:cNvSpPr/>
          <p:nvPr/>
        </p:nvSpPr>
        <p:spPr>
          <a:xfrm>
            <a:off x="6476188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1e9728b4443_0_5"/>
          <p:cNvSpPr/>
          <p:nvPr/>
        </p:nvSpPr>
        <p:spPr>
          <a:xfrm>
            <a:off x="4262450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1e9728b4443_0_5"/>
          <p:cNvSpPr/>
          <p:nvPr/>
        </p:nvSpPr>
        <p:spPr>
          <a:xfrm>
            <a:off x="2057400" y="2671763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1e9728b4443_0_5"/>
          <p:cNvSpPr/>
          <p:nvPr/>
        </p:nvSpPr>
        <p:spPr>
          <a:xfrm>
            <a:off x="2090787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1e9728b4443_0_5"/>
          <p:cNvSpPr/>
          <p:nvPr/>
        </p:nvSpPr>
        <p:spPr>
          <a:xfrm>
            <a:off x="3367087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1e9728b4443_0_5"/>
          <p:cNvSpPr/>
          <p:nvPr/>
        </p:nvSpPr>
        <p:spPr>
          <a:xfrm>
            <a:off x="4262475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1e9728b4443_0_5"/>
          <p:cNvSpPr/>
          <p:nvPr/>
        </p:nvSpPr>
        <p:spPr>
          <a:xfrm>
            <a:off x="5557775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1e9728b4443_0_5"/>
          <p:cNvSpPr/>
          <p:nvPr/>
        </p:nvSpPr>
        <p:spPr>
          <a:xfrm>
            <a:off x="6453162" y="4767275"/>
            <a:ext cx="423900" cy="123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6" name="Google Shape;866;g1e971697877_0_2"/>
          <p:cNvCxnSpPr>
            <a:stCxn id="867" idx="0"/>
            <a:endCxn id="868" idx="0"/>
          </p:cNvCxnSpPr>
          <p:nvPr/>
        </p:nvCxnSpPr>
        <p:spPr>
          <a:xfrm rot="5400000">
            <a:off x="6095632" y="-1188678"/>
            <a:ext cx="600" cy="7877100"/>
          </a:xfrm>
          <a:prstGeom prst="bentConnector3">
            <a:avLst>
              <a:gd name="adj1" fmla="val -140841215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9" name="Google Shape;869;g1e971697877_0_2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Síntesis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0" name="Google Shape;870;g1e971697877_0_2"/>
          <p:cNvSpPr/>
          <p:nvPr/>
        </p:nvSpPr>
        <p:spPr>
          <a:xfrm>
            <a:off x="99201" y="5645100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1" name="Google Shape;871;g1e971697877_0_2"/>
          <p:cNvPicPr preferRelativeResize="0"/>
          <p:nvPr/>
        </p:nvPicPr>
        <p:blipFill rotWithShape="1">
          <a:blip r:embed="rId3">
            <a:alphaModFix/>
          </a:blip>
          <a:srcRect l="7345" t="14297" r="6134" b="10133"/>
          <a:stretch/>
        </p:blipFill>
        <p:spPr>
          <a:xfrm>
            <a:off x="145373" y="5681426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g1e971697877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2"/>
            <a:ext cx="1687800" cy="11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g1e971697877_0_2"/>
          <p:cNvSpPr/>
          <p:nvPr/>
        </p:nvSpPr>
        <p:spPr>
          <a:xfrm>
            <a:off x="3411783" y="3153759"/>
            <a:ext cx="1445700" cy="301200"/>
          </a:xfrm>
          <a:prstGeom prst="stripedRightArrow">
            <a:avLst>
              <a:gd name="adj1" fmla="val 50000"/>
              <a:gd name="adj2" fmla="val 89966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1e971697877_0_2"/>
          <p:cNvSpPr/>
          <p:nvPr/>
        </p:nvSpPr>
        <p:spPr>
          <a:xfrm>
            <a:off x="7375411" y="3153759"/>
            <a:ext cx="1445700" cy="301200"/>
          </a:xfrm>
          <a:prstGeom prst="stripedRightArrow">
            <a:avLst>
              <a:gd name="adj1" fmla="val 50000"/>
              <a:gd name="adj2" fmla="val 89966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1e971697877_0_2"/>
          <p:cNvSpPr/>
          <p:nvPr/>
        </p:nvSpPr>
        <p:spPr>
          <a:xfrm flipH="1">
            <a:off x="3411779" y="3858091"/>
            <a:ext cx="1445700" cy="301200"/>
          </a:xfrm>
          <a:prstGeom prst="stripedRightArrow">
            <a:avLst>
              <a:gd name="adj1" fmla="val 50000"/>
              <a:gd name="adj2" fmla="val 89966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1e971697877_0_2"/>
          <p:cNvSpPr/>
          <p:nvPr/>
        </p:nvSpPr>
        <p:spPr>
          <a:xfrm flipH="1">
            <a:off x="7350381" y="3858091"/>
            <a:ext cx="1445700" cy="301200"/>
          </a:xfrm>
          <a:prstGeom prst="stripedRightArrow">
            <a:avLst>
              <a:gd name="adj1" fmla="val 50000"/>
              <a:gd name="adj2" fmla="val 89966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g1e971697877_0_2"/>
          <p:cNvCxnSpPr>
            <a:stCxn id="878" idx="2"/>
            <a:endCxn id="879" idx="2"/>
          </p:cNvCxnSpPr>
          <p:nvPr/>
        </p:nvCxnSpPr>
        <p:spPr>
          <a:xfrm rot="-5400000" flipH="1">
            <a:off x="6103838" y="764935"/>
            <a:ext cx="600" cy="7860900"/>
          </a:xfrm>
          <a:prstGeom prst="bentConnector3">
            <a:avLst>
              <a:gd name="adj1" fmla="val 92914518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80" name="Google Shape;880;g1e971697877_0_2"/>
          <p:cNvGrpSpPr/>
          <p:nvPr/>
        </p:nvGrpSpPr>
        <p:grpSpPr>
          <a:xfrm>
            <a:off x="1251428" y="1053994"/>
            <a:ext cx="1811952" cy="3641091"/>
            <a:chOff x="1177280" y="1051617"/>
            <a:chExt cx="2055300" cy="4130095"/>
          </a:xfrm>
        </p:grpSpPr>
        <p:grpSp>
          <p:nvGrpSpPr>
            <p:cNvPr id="881" name="Google Shape;881;g1e971697877_0_2"/>
            <p:cNvGrpSpPr/>
            <p:nvPr/>
          </p:nvGrpSpPr>
          <p:grpSpPr>
            <a:xfrm>
              <a:off x="1177280" y="1051617"/>
              <a:ext cx="2055300" cy="3978700"/>
              <a:chOff x="1786880" y="1051617"/>
              <a:chExt cx="2055300" cy="3978700"/>
            </a:xfrm>
          </p:grpSpPr>
          <p:grpSp>
            <p:nvGrpSpPr>
              <p:cNvPr id="882" name="Google Shape;882;g1e971697877_0_2"/>
              <p:cNvGrpSpPr/>
              <p:nvPr/>
            </p:nvGrpSpPr>
            <p:grpSpPr>
              <a:xfrm>
                <a:off x="1786880" y="2975017"/>
                <a:ext cx="2055300" cy="2055300"/>
                <a:chOff x="8098305" y="822817"/>
                <a:chExt cx="2055300" cy="2055300"/>
              </a:xfrm>
            </p:grpSpPr>
            <p:sp>
              <p:nvSpPr>
                <p:cNvPr id="868" name="Google Shape;868;g1e971697877_0_2"/>
                <p:cNvSpPr/>
                <p:nvPr/>
              </p:nvSpPr>
              <p:spPr>
                <a:xfrm>
                  <a:off x="8098305" y="822817"/>
                  <a:ext cx="2055300" cy="2055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3" name="Google Shape;883;g1e971697877_0_2"/>
                <p:cNvGrpSpPr/>
                <p:nvPr/>
              </p:nvGrpSpPr>
              <p:grpSpPr>
                <a:xfrm>
                  <a:off x="8379163" y="1017938"/>
                  <a:ext cx="1493574" cy="1665075"/>
                  <a:chOff x="1887450" y="2404225"/>
                  <a:chExt cx="1493574" cy="1665075"/>
                </a:xfrm>
              </p:grpSpPr>
              <p:pic>
                <p:nvPicPr>
                  <p:cNvPr id="884" name="Google Shape;884;g1e971697877_0_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l="49738" t="967" b="47291"/>
                  <a:stretch/>
                </p:blipFill>
                <p:spPr>
                  <a:xfrm>
                    <a:off x="1887450" y="2404225"/>
                    <a:ext cx="1493574" cy="1665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85" name="Google Shape;885;g1e971697877_0_2"/>
                  <p:cNvSpPr/>
                  <p:nvPr/>
                </p:nvSpPr>
                <p:spPr>
                  <a:xfrm>
                    <a:off x="1892213" y="2408988"/>
                    <a:ext cx="146100" cy="1389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id="886" name="Google Shape;886;g1e971697877_0_2"/>
              <p:cNvPicPr preferRelativeResize="0"/>
              <p:nvPr/>
            </p:nvPicPr>
            <p:blipFill rotWithShape="1">
              <a:blip r:embed="rId6">
                <a:alphaModFix/>
              </a:blip>
              <a:srcRect l="7983" t="34525" r="57707" b="12570"/>
              <a:stretch/>
            </p:blipFill>
            <p:spPr>
              <a:xfrm>
                <a:off x="2011725" y="1051617"/>
                <a:ext cx="1605620" cy="13920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8" name="Google Shape;878;g1e971697877_0_2"/>
            <p:cNvSpPr txBox="1"/>
            <p:nvPr/>
          </p:nvSpPr>
          <p:spPr>
            <a:xfrm>
              <a:off x="1765900" y="4627612"/>
              <a:ext cx="91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NCCT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7" name="Google Shape;887;g1e971697877_0_2"/>
          <p:cNvGrpSpPr/>
          <p:nvPr/>
        </p:nvGrpSpPr>
        <p:grpSpPr>
          <a:xfrm>
            <a:off x="5205644" y="1180018"/>
            <a:ext cx="1811952" cy="3515068"/>
            <a:chOff x="5052930" y="1194565"/>
            <a:chExt cx="2055300" cy="3987147"/>
          </a:xfrm>
        </p:grpSpPr>
        <p:grpSp>
          <p:nvGrpSpPr>
            <p:cNvPr id="888" name="Google Shape;888;g1e971697877_0_2"/>
            <p:cNvGrpSpPr/>
            <p:nvPr/>
          </p:nvGrpSpPr>
          <p:grpSpPr>
            <a:xfrm>
              <a:off x="5052930" y="1194565"/>
              <a:ext cx="2055300" cy="3835777"/>
              <a:chOff x="4824330" y="1194565"/>
              <a:chExt cx="2055300" cy="3835777"/>
            </a:xfrm>
          </p:grpSpPr>
          <p:grpSp>
            <p:nvGrpSpPr>
              <p:cNvPr id="889" name="Google Shape;889;g1e971697877_0_2"/>
              <p:cNvGrpSpPr/>
              <p:nvPr/>
            </p:nvGrpSpPr>
            <p:grpSpPr>
              <a:xfrm>
                <a:off x="4824330" y="2975042"/>
                <a:ext cx="2055300" cy="2055300"/>
                <a:chOff x="1006755" y="1854992"/>
                <a:chExt cx="2055300" cy="2055300"/>
              </a:xfrm>
            </p:grpSpPr>
            <p:sp>
              <p:nvSpPr>
                <p:cNvPr id="890" name="Google Shape;890;g1e971697877_0_2"/>
                <p:cNvSpPr/>
                <p:nvPr/>
              </p:nvSpPr>
              <p:spPr>
                <a:xfrm>
                  <a:off x="1006755" y="1854992"/>
                  <a:ext cx="2055300" cy="2055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1" name="Google Shape;891;g1e971697877_0_2"/>
                <p:cNvGrpSpPr/>
                <p:nvPr/>
              </p:nvGrpSpPr>
              <p:grpSpPr>
                <a:xfrm>
                  <a:off x="1324625" y="2050100"/>
                  <a:ext cx="1419549" cy="1665075"/>
                  <a:chOff x="3422900" y="2404225"/>
                  <a:chExt cx="1419549" cy="1665075"/>
                </a:xfrm>
              </p:grpSpPr>
              <p:pic>
                <p:nvPicPr>
                  <p:cNvPr id="892" name="Google Shape;892;g1e971697877_0_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t="967" r="52228" b="47291"/>
                  <a:stretch/>
                </p:blipFill>
                <p:spPr>
                  <a:xfrm>
                    <a:off x="3422900" y="2404225"/>
                    <a:ext cx="1419549" cy="16650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93" name="Google Shape;893;g1e971697877_0_2"/>
                  <p:cNvSpPr/>
                  <p:nvPr/>
                </p:nvSpPr>
                <p:spPr>
                  <a:xfrm>
                    <a:off x="3435263" y="2408988"/>
                    <a:ext cx="146100" cy="1389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id="894" name="Google Shape;894;g1e971697877_0_2"/>
              <p:cNvPicPr preferRelativeResize="0"/>
              <p:nvPr/>
            </p:nvPicPr>
            <p:blipFill rotWithShape="1">
              <a:blip r:embed="rId6">
                <a:alphaModFix/>
              </a:blip>
              <a:srcRect l="46701" t="41433" r="17697" b="11094"/>
              <a:stretch/>
            </p:blipFill>
            <p:spPr>
              <a:xfrm>
                <a:off x="5018920" y="1194565"/>
                <a:ext cx="1666107" cy="12490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5" name="Google Shape;895;g1e971697877_0_2"/>
            <p:cNvSpPr txBox="1"/>
            <p:nvPr/>
          </p:nvSpPr>
          <p:spPr>
            <a:xfrm>
              <a:off x="5611550" y="4627612"/>
              <a:ext cx="91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DWI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6" name="Google Shape;896;g1e971697877_0_2"/>
          <p:cNvGrpSpPr/>
          <p:nvPr/>
        </p:nvGrpSpPr>
        <p:grpSpPr>
          <a:xfrm>
            <a:off x="9128402" y="1078146"/>
            <a:ext cx="1812160" cy="3616939"/>
            <a:chOff x="8969105" y="1079013"/>
            <a:chExt cx="2055535" cy="4102699"/>
          </a:xfrm>
        </p:grpSpPr>
        <p:grpSp>
          <p:nvGrpSpPr>
            <p:cNvPr id="897" name="Google Shape;897;g1e971697877_0_2"/>
            <p:cNvGrpSpPr/>
            <p:nvPr/>
          </p:nvGrpSpPr>
          <p:grpSpPr>
            <a:xfrm>
              <a:off x="8969105" y="1079013"/>
              <a:ext cx="2055535" cy="3951436"/>
              <a:chOff x="8054705" y="1079013"/>
              <a:chExt cx="2055535" cy="3951436"/>
            </a:xfrm>
          </p:grpSpPr>
          <p:grpSp>
            <p:nvGrpSpPr>
              <p:cNvPr id="898" name="Google Shape;898;g1e971697877_0_2"/>
              <p:cNvGrpSpPr/>
              <p:nvPr/>
            </p:nvGrpSpPr>
            <p:grpSpPr>
              <a:xfrm>
                <a:off x="8054705" y="2974914"/>
                <a:ext cx="2055535" cy="2055535"/>
                <a:chOff x="5363400" y="2493822"/>
                <a:chExt cx="1665075" cy="1665075"/>
              </a:xfrm>
            </p:grpSpPr>
            <p:sp>
              <p:nvSpPr>
                <p:cNvPr id="899" name="Google Shape;899;g1e971697877_0_2"/>
                <p:cNvSpPr/>
                <p:nvPr/>
              </p:nvSpPr>
              <p:spPr>
                <a:xfrm>
                  <a:off x="5363400" y="2493825"/>
                  <a:ext cx="1665000" cy="16650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867" name="Google Shape;867;g1e971697877_0_2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5363400" y="2493822"/>
                  <a:ext cx="1665075" cy="1665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900" name="Google Shape;900;g1e971697877_0_2"/>
              <p:cNvPicPr preferRelativeResize="0"/>
              <p:nvPr/>
            </p:nvPicPr>
            <p:blipFill rotWithShape="1">
              <a:blip r:embed="rId8">
                <a:alphaModFix/>
              </a:blip>
              <a:srcRect l="18491" t="21018" r="26293" b="-725"/>
              <a:stretch/>
            </p:blipFill>
            <p:spPr>
              <a:xfrm flipH="1">
                <a:off x="8194829" y="1079013"/>
                <a:ext cx="1775295" cy="1537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9" name="Google Shape;879;g1e971697877_0_2"/>
            <p:cNvSpPr txBox="1"/>
            <p:nvPr/>
          </p:nvSpPr>
          <p:spPr>
            <a:xfrm>
              <a:off x="9539375" y="4627612"/>
              <a:ext cx="91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AngioCT</a:t>
              </a:r>
              <a:endParaRPr sz="1400" b="1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1" name="Google Shape;901;g1e971697877_0_2"/>
          <p:cNvSpPr/>
          <p:nvPr/>
        </p:nvSpPr>
        <p:spPr>
          <a:xfrm>
            <a:off x="5706851" y="1222600"/>
            <a:ext cx="837000" cy="837000"/>
          </a:xfrm>
          <a:prstGeom prst="noSmoking">
            <a:avLst>
              <a:gd name="adj" fmla="val 7945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1e971697877_0_2"/>
          <p:cNvSpPr/>
          <p:nvPr/>
        </p:nvSpPr>
        <p:spPr>
          <a:xfrm>
            <a:off x="9745451" y="1222600"/>
            <a:ext cx="837000" cy="837000"/>
          </a:xfrm>
          <a:prstGeom prst="noSmoking">
            <a:avLst>
              <a:gd name="adj" fmla="val 7945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ECA85F28-6EBF-6AAB-CDE3-E127C8D64A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78FB9205-18AC-91D9-12FE-883965602B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e9728b4443_0_22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4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Síntesis de </a:t>
            </a:r>
            <a:r>
              <a:rPr lang="es-ES" sz="4000" b="1" i="0" u="none" strike="noStrike" cap="non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imágenes médicas.</a:t>
            </a:r>
            <a:endParaRPr sz="4000" b="1" i="0" u="none" strike="noStrike" cap="non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8" name="Google Shape;678;g1e9728b4443_0_22"/>
          <p:cNvSpPr/>
          <p:nvPr/>
        </p:nvSpPr>
        <p:spPr>
          <a:xfrm>
            <a:off x="99201" y="5568098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9" name="Google Shape;679;g1e9728b4443_0_22"/>
          <p:cNvPicPr preferRelativeResize="0"/>
          <p:nvPr/>
        </p:nvPicPr>
        <p:blipFill rotWithShape="1">
          <a:blip r:embed="rId3">
            <a:alphaModFix/>
          </a:blip>
          <a:srcRect l="7345" t="14297" r="6134" b="10133"/>
          <a:stretch/>
        </p:blipFill>
        <p:spPr>
          <a:xfrm>
            <a:off x="145373" y="5681426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1e9728b4443_0_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2"/>
            <a:ext cx="1687800" cy="110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2" name="Google Shape;682;g1e9728b4443_0_22"/>
          <p:cNvCxnSpPr/>
          <p:nvPr/>
        </p:nvCxnSpPr>
        <p:spPr>
          <a:xfrm>
            <a:off x="335601" y="4993410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3" name="Google Shape;683;g1e9728b4443_0_22"/>
          <p:cNvSpPr txBox="1"/>
          <p:nvPr/>
        </p:nvSpPr>
        <p:spPr>
          <a:xfrm>
            <a:off x="371075" y="5246687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Garzón, G., Gómez, S., Martínez, F. “Synthesis of DWI and ADC stroke sequences from onset NCCT studies from structural cycle representations” (Under review).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" name="Google Shape;684;g1e9728b4443_0_22"/>
          <p:cNvGrpSpPr/>
          <p:nvPr/>
        </p:nvGrpSpPr>
        <p:grpSpPr>
          <a:xfrm>
            <a:off x="228600" y="1288130"/>
            <a:ext cx="7609552" cy="2796985"/>
            <a:chOff x="687425" y="1041891"/>
            <a:chExt cx="10763250" cy="3409950"/>
          </a:xfrm>
        </p:grpSpPr>
        <p:pic>
          <p:nvPicPr>
            <p:cNvPr id="685" name="Google Shape;685;g1e9728b4443_0_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7425" y="1041891"/>
              <a:ext cx="10763250" cy="340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g1e9728b4443_0_22"/>
            <p:cNvSpPr txBox="1"/>
            <p:nvPr/>
          </p:nvSpPr>
          <p:spPr>
            <a:xfrm>
              <a:off x="4591050" y="3705225"/>
              <a:ext cx="248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SSIM = 0.9135</a:t>
              </a:r>
              <a:endParaRPr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g1e9728b4443_0_22"/>
            <p:cNvSpPr txBox="1"/>
            <p:nvPr/>
          </p:nvSpPr>
          <p:spPr>
            <a:xfrm>
              <a:off x="4591050" y="3933825"/>
              <a:ext cx="248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PSNR = 25.85</a:t>
              </a:r>
              <a:endParaRPr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g1e9728b4443_0_22"/>
            <p:cNvSpPr txBox="1"/>
            <p:nvPr/>
          </p:nvSpPr>
          <p:spPr>
            <a:xfrm>
              <a:off x="857250" y="3705225"/>
              <a:ext cx="248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SSIM = 1.0</a:t>
              </a:r>
              <a:endParaRPr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g1e9728b4443_0_22"/>
            <p:cNvSpPr txBox="1"/>
            <p:nvPr/>
          </p:nvSpPr>
          <p:spPr>
            <a:xfrm>
              <a:off x="857250" y="3933825"/>
              <a:ext cx="248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PSNR = [inf]</a:t>
              </a:r>
              <a:endParaRPr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0" name="Google Shape;690;g1e9728b4443_0_22"/>
          <p:cNvSpPr txBox="1"/>
          <p:nvPr/>
        </p:nvSpPr>
        <p:spPr>
          <a:xfrm>
            <a:off x="219515" y="4316310"/>
            <a:ext cx="11725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alibri"/>
                <a:ea typeface="Calibri"/>
                <a:cs typeface="Calibri"/>
                <a:sym typeface="Calibri"/>
              </a:rPr>
              <a:t>Ejemplo de un proceso de obtención de imágenes sintéticas:</a:t>
            </a:r>
            <a:r>
              <a:rPr lang="es-ES" sz="1600">
                <a:latin typeface="Calibri"/>
                <a:ea typeface="Calibri"/>
                <a:cs typeface="Calibri"/>
                <a:sym typeface="Calibri"/>
              </a:rPr>
              <a:t> Imagen de referencia (primera columna), imagen sintética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afectada por </a:t>
            </a:r>
            <a:r>
              <a:rPr lang="es-E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desenfoque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cambios </a:t>
            </a:r>
            <a:r>
              <a:rPr lang="es-E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estructurales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 </a:t>
            </a:r>
            <a:r>
              <a:rPr lang="es-E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luminancia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de </a:t>
            </a:r>
            <a:r>
              <a:rPr lang="es-E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contraste</a:t>
            </a:r>
            <a:r>
              <a:rPr lang="es-ES" sz="1600">
                <a:latin typeface="Calibri"/>
                <a:ea typeface="Calibri"/>
                <a:cs typeface="Calibri"/>
                <a:sym typeface="Calibri"/>
              </a:rPr>
              <a:t> (segunda columna), y su correspondiente mapa de diferencia absoluta.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4467DD38-0570-8944-521A-22CA66378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23E19E27-9B53-1B29-6FFF-374E06A8ED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pic>
        <p:nvPicPr>
          <p:cNvPr id="4" name="Google Shape;861;g1e968ce9d96_2_130">
            <a:extLst>
              <a:ext uri="{FF2B5EF4-FFF2-40B4-BE49-F238E27FC236}">
                <a16:creationId xmlns:a16="http://schemas.microsoft.com/office/drawing/2014/main" id="{674C22FF-1F74-6885-F138-F1154ED70F7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10500" y="259075"/>
            <a:ext cx="35433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6;g1e968ce9d96_2_130">
            <a:extLst>
              <a:ext uri="{FF2B5EF4-FFF2-40B4-BE49-F238E27FC236}">
                <a16:creationId xmlns:a16="http://schemas.microsoft.com/office/drawing/2014/main" id="{1ACEFC9E-C344-E962-27EE-201EE5EADD3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5147" t="3171" r="44431" b="79245"/>
          <a:stretch/>
        </p:blipFill>
        <p:spPr>
          <a:xfrm>
            <a:off x="8187152" y="3332106"/>
            <a:ext cx="3851749" cy="6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60;g1e968ce9d96_2_130">
            <a:extLst>
              <a:ext uri="{FF2B5EF4-FFF2-40B4-BE49-F238E27FC236}">
                <a16:creationId xmlns:a16="http://schemas.microsoft.com/office/drawing/2014/main" id="{9B4455B4-2B6C-CE7D-359F-CA258C08ADDD}"/>
              </a:ext>
            </a:extLst>
          </p:cNvPr>
          <p:cNvSpPr txBox="1"/>
          <p:nvPr/>
        </p:nvSpPr>
        <p:spPr>
          <a:xfrm>
            <a:off x="200926" y="5417233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Hore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Alain, and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Djemel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Ziou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“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PSNR vs. SSIM.” 2010 20th International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Conference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IEEE, 2010.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59;g1e968ce9d96_2_130">
            <a:extLst>
              <a:ext uri="{FF2B5EF4-FFF2-40B4-BE49-F238E27FC236}">
                <a16:creationId xmlns:a16="http://schemas.microsoft.com/office/drawing/2014/main" id="{67F490BD-EF25-390C-32A1-3B44761058CE}"/>
              </a:ext>
            </a:extLst>
          </p:cNvPr>
          <p:cNvSpPr txBox="1"/>
          <p:nvPr/>
        </p:nvSpPr>
        <p:spPr>
          <a:xfrm>
            <a:off x="219515" y="5015638"/>
            <a:ext cx="11201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Lu,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Yingjing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“The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Step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Away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MSE.”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Proceedings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AAAI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Conference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Artificial </a:t>
            </a:r>
            <a:r>
              <a:rPr lang="es-E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Vol. 33. 2019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e9728b4443_0_22"/>
          <p:cNvSpPr txBox="1"/>
          <p:nvPr/>
        </p:nvSpPr>
        <p:spPr>
          <a:xfrm>
            <a:off x="0" y="173016"/>
            <a:ext cx="12192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4000" b="1" i="0" u="none" strike="noStrike" cap="none" dirty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Soporte en la recomendación de métricas</a:t>
            </a:r>
            <a:r>
              <a:rPr lang="es-ES" sz="4000" b="1" i="0" u="none" strike="noStrike" cap="none" dirty="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4000" b="1" i="0" u="none" strike="noStrike" cap="none" dirty="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8" name="Google Shape;678;g1e9728b4443_0_22"/>
          <p:cNvSpPr/>
          <p:nvPr/>
        </p:nvSpPr>
        <p:spPr>
          <a:xfrm>
            <a:off x="99201" y="5568098"/>
            <a:ext cx="119397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9" name="Google Shape;679;g1e9728b4443_0_22"/>
          <p:cNvPicPr preferRelativeResize="0"/>
          <p:nvPr/>
        </p:nvPicPr>
        <p:blipFill rotWithShape="1">
          <a:blip r:embed="rId3">
            <a:alphaModFix/>
          </a:blip>
          <a:srcRect l="7345" t="14297" r="6134" b="10133"/>
          <a:stretch/>
        </p:blipFill>
        <p:spPr>
          <a:xfrm>
            <a:off x="145373" y="5681426"/>
            <a:ext cx="2058074" cy="10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1e9728b4443_0_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5525" y="5645052"/>
            <a:ext cx="1687800" cy="110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2" name="Google Shape;682;g1e9728b4443_0_22"/>
          <p:cNvCxnSpPr/>
          <p:nvPr/>
        </p:nvCxnSpPr>
        <p:spPr>
          <a:xfrm>
            <a:off x="335601" y="4993410"/>
            <a:ext cx="1146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4467DD38-0570-8944-521A-22CA66378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23E19E27-9B53-1B29-6FFF-374E06A8E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020DD52-C0DC-16A4-2B18-C7076780E761}"/>
              </a:ext>
            </a:extLst>
          </p:cNvPr>
          <p:cNvSpPr txBox="1"/>
          <p:nvPr/>
        </p:nvSpPr>
        <p:spPr>
          <a:xfrm>
            <a:off x="231300" y="5212406"/>
            <a:ext cx="615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hlinkClick r:id="rId7"/>
              </a:rPr>
              <a:t>https://metrics-reloaded.dkfz.de/</a:t>
            </a:r>
            <a:endParaRPr lang="es-CO" sz="2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69CBB85-5A2B-0130-A138-C0C0BF86D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601" y="1849273"/>
            <a:ext cx="3320281" cy="2217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6F34C1E-B717-B3FB-4B55-5D917BC5F5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8525" y="1506658"/>
            <a:ext cx="8280376" cy="31125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17337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968ce9d96_2_259"/>
          <p:cNvSpPr/>
          <p:nvPr/>
        </p:nvSpPr>
        <p:spPr>
          <a:xfrm>
            <a:off x="99200" y="5645100"/>
            <a:ext cx="11939600" cy="11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9" name="Google Shape;909;g1e968ce9d96_2_259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910" name="Google Shape;910;g1e968ce9d96_2_259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1e968ce9d96_2_259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2" name="Google Shape;912;g1e968ce9d96_2_259"/>
          <p:cNvSpPr txBox="1">
            <a:spLocks noGrp="1"/>
          </p:cNvSpPr>
          <p:nvPr>
            <p:ph type="title" idx="4294967295"/>
          </p:nvPr>
        </p:nvSpPr>
        <p:spPr>
          <a:xfrm>
            <a:off x="0" y="186267"/>
            <a:ext cx="11269133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Algunas conclusiones y perspectivas 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3" name="Google Shape;913;g1e968ce9d96_2_259"/>
          <p:cNvSpPr txBox="1"/>
          <p:nvPr/>
        </p:nvSpPr>
        <p:spPr>
          <a:xfrm>
            <a:off x="347800" y="1685306"/>
            <a:ext cx="11442400" cy="738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 representaciones profundas (Deep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learning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  son hoy en día el estado del arte, sin embargo siguen siendo altamente dependiente de </a:t>
            </a:r>
            <a:r>
              <a:rPr lang="es-ES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una alta cantidad de datos anotados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914" name="Google Shape;914;g1e968ce9d96_2_259"/>
          <p:cNvPicPr preferRelativeResize="0"/>
          <p:nvPr/>
        </p:nvPicPr>
        <p:blipFill rotWithShape="1">
          <a:blip r:embed="rId3">
            <a:alphaModFix/>
          </a:blip>
          <a:srcRect l="7345" t="14297" r="6133" b="10131"/>
          <a:stretch/>
        </p:blipFill>
        <p:spPr>
          <a:xfrm>
            <a:off x="203232" y="5650978"/>
            <a:ext cx="2061576" cy="1027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1e968ce9d96_2_2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7331" y="5614600"/>
            <a:ext cx="1690672" cy="110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EEA41CE3-2CD7-334F-3B3B-7ED202CE6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4AFF488C-812F-936B-3F72-CE75F6E58B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0B6ECE2-3A62-2A26-0880-EEC090689FA8}"/>
              </a:ext>
            </a:extLst>
          </p:cNvPr>
          <p:cNvSpPr txBox="1"/>
          <p:nvPr/>
        </p:nvSpPr>
        <p:spPr>
          <a:xfrm>
            <a:off x="347800" y="2694210"/>
            <a:ext cx="110578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Calibri" panose="020F0502020204030204" pitchFamily="34" charset="0"/>
                <a:cs typeface="Calibri" panose="020F0502020204030204" pitchFamily="34" charset="0"/>
              </a:rPr>
              <a:t>Es inminente el acompañamiento de herramientas de I.A. en tareas de medicina. La medida con que los profesionales de salud conozcan su naturaleza, ventajas y limitaciones pueden potenciar su uso, así como indagar en mejoras de estos algoritmos.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9DCAD5-E144-D051-FFE2-14D494956F33}"/>
              </a:ext>
            </a:extLst>
          </p:cNvPr>
          <p:cNvSpPr txBox="1"/>
          <p:nvPr/>
        </p:nvSpPr>
        <p:spPr>
          <a:xfrm>
            <a:off x="347800" y="3913617"/>
            <a:ext cx="110578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Calibri" panose="020F0502020204030204" pitchFamily="34" charset="0"/>
                <a:cs typeface="Calibri" panose="020F0502020204030204" pitchFamily="34" charset="0"/>
              </a:rPr>
              <a:t>Existen </a:t>
            </a:r>
            <a:r>
              <a:rPr lang="es-E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muchas estrategias de evaluación </a:t>
            </a:r>
            <a:r>
              <a:rPr lang="es-ES" sz="2000" dirty="0">
                <a:latin typeface="Calibri" panose="020F0502020204030204" pitchFamily="34" charset="0"/>
                <a:cs typeface="Calibri" panose="020F0502020204030204" pitchFamily="34" charset="0"/>
              </a:rPr>
              <a:t>que intentan medir la eficacia de ciertos modelos para </a:t>
            </a:r>
            <a:r>
              <a:rPr lang="es-E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tareas </a:t>
            </a:r>
            <a:r>
              <a:rPr lang="es-E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específicas</a:t>
            </a:r>
            <a:r>
              <a:rPr lang="es-ES" sz="2000" dirty="0">
                <a:latin typeface="Calibri" panose="020F0502020204030204" pitchFamily="34" charset="0"/>
                <a:cs typeface="Calibri" panose="020F0502020204030204" pitchFamily="34" charset="0"/>
              </a:rPr>
              <a:t>. Es necesario hoy en día conocer la tarea específica, las estrategias de evaluación e interpretar los resultados con respecto al estado del arte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0"/>
          <p:cNvSpPr txBox="1">
            <a:spLocks noGrp="1"/>
          </p:cNvSpPr>
          <p:nvPr>
            <p:ph type="body" idx="4294967295"/>
          </p:nvPr>
        </p:nvSpPr>
        <p:spPr>
          <a:xfrm>
            <a:off x="1" y="4387655"/>
            <a:ext cx="7708900" cy="117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609585" lvl="0" indent="-457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3733" b="1" i="1" u="sng" dirty="0">
                <a:solidFill>
                  <a:srgbClr val="40404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Fabio Martínez, PhD</a:t>
            </a:r>
            <a:endParaRPr sz="3733" b="1" i="1" u="sng" baseline="30000" dirty="0">
              <a:solidFill>
                <a:srgbClr val="404040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5"/>
              <a:buNone/>
            </a:pPr>
            <a:r>
              <a:rPr lang="es-ES" sz="1929" dirty="0">
                <a:solidFill>
                  <a:srgbClr val="43434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famarcar@saber.uis.edu.co, famarcar@uis.edu.co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22" name="Google Shape;922;p30"/>
          <p:cNvGrpSpPr/>
          <p:nvPr/>
        </p:nvGrpSpPr>
        <p:grpSpPr>
          <a:xfrm flipH="1">
            <a:off x="9009033" y="4260162"/>
            <a:ext cx="2865192" cy="1100460"/>
            <a:chOff x="439473" y="1811648"/>
            <a:chExt cx="4206918" cy="1744179"/>
          </a:xfrm>
        </p:grpSpPr>
        <p:sp>
          <p:nvSpPr>
            <p:cNvPr id="923" name="Google Shape;923;p30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0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5" name="Google Shape;925;p30"/>
          <p:cNvSpPr txBox="1"/>
          <p:nvPr/>
        </p:nvSpPr>
        <p:spPr>
          <a:xfrm>
            <a:off x="0" y="3399723"/>
            <a:ext cx="11443448" cy="116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Raleway"/>
                <a:cs typeface="Calibri" panose="020F0502020204030204" pitchFamily="34" charset="0"/>
                <a:sym typeface="Raleway"/>
              </a:rPr>
              <a:t>Muchas gracias!</a:t>
            </a:r>
            <a:endParaRPr sz="1867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 dirty="0">
              <a:solidFill>
                <a:srgbClr val="5F5F5F"/>
              </a:solidFill>
              <a:latin typeface="Calibri" panose="020F0502020204030204" pitchFamily="34" charset="0"/>
              <a:ea typeface="Raleway"/>
              <a:cs typeface="Calibri" panose="020F0502020204030204" pitchFamily="34" charset="0"/>
              <a:sym typeface="Raleway"/>
            </a:endParaRPr>
          </a:p>
        </p:txBody>
      </p:sp>
      <p:sp>
        <p:nvSpPr>
          <p:cNvPr id="927" name="Google Shape;927;p30"/>
          <p:cNvSpPr/>
          <p:nvPr/>
        </p:nvSpPr>
        <p:spPr>
          <a:xfrm>
            <a:off x="-27167" y="5506200"/>
            <a:ext cx="12192000" cy="13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2525" tIns="81225" rIns="162525" bIns="81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8" name="Google Shape;928;p30"/>
          <p:cNvPicPr preferRelativeResize="0"/>
          <p:nvPr/>
        </p:nvPicPr>
        <p:blipFill rotWithShape="1">
          <a:blip r:embed="rId3">
            <a:alphaModFix/>
          </a:blip>
          <a:srcRect l="7345" t="14297" r="6133" b="10131"/>
          <a:stretch/>
        </p:blipFill>
        <p:spPr>
          <a:xfrm>
            <a:off x="203232" y="5650978"/>
            <a:ext cx="2061576" cy="1027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7331" y="5614600"/>
            <a:ext cx="1690672" cy="110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8D3EBB81-3AA6-6FD6-53DF-259845EED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749" y="5431870"/>
            <a:ext cx="2346251" cy="141407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3700D6AB-AC85-A3A4-193B-FDCB202F0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94" y="5817836"/>
            <a:ext cx="3350481" cy="754778"/>
          </a:xfrm>
          <a:prstGeom prst="rect">
            <a:avLst/>
          </a:prstGeom>
        </p:spPr>
      </p:pic>
      <p:sp>
        <p:nvSpPr>
          <p:cNvPr id="4" name="Google Shape;95;p1">
            <a:extLst>
              <a:ext uri="{FF2B5EF4-FFF2-40B4-BE49-F238E27FC236}">
                <a16:creationId xmlns:a16="http://schemas.microsoft.com/office/drawing/2014/main" id="{469C8E84-7624-A374-8782-2EC676096DAD}"/>
              </a:ext>
            </a:extLst>
          </p:cNvPr>
          <p:cNvSpPr txBox="1">
            <a:spLocks/>
          </p:cNvSpPr>
          <p:nvPr/>
        </p:nvSpPr>
        <p:spPr>
          <a:xfrm>
            <a:off x="-119763" y="301049"/>
            <a:ext cx="12192000" cy="253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s-ES" sz="4800" b="1" dirty="0">
                <a:solidFill>
                  <a:srgbClr val="323F4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Fundamentos</a:t>
            </a:r>
            <a:r>
              <a:rPr lang="es-ES" sz="4800" b="1" dirty="0">
                <a:solidFill>
                  <a:srgbClr val="323F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evaluación de sistemas de aprendizaje profundo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1511</Words>
  <Application>Microsoft Office PowerPoint</Application>
  <PresentationFormat>Panorámica</PresentationFormat>
  <Paragraphs>372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Helvetica Neue</vt:lpstr>
      <vt:lpstr>Noto Sans Symbols</vt:lpstr>
      <vt:lpstr>Ovo</vt:lpstr>
      <vt:lpstr>Raleway</vt:lpstr>
      <vt:lpstr>Calibri</vt:lpstr>
      <vt:lpstr>Arial</vt:lpstr>
      <vt:lpstr>Tema de Office</vt:lpstr>
      <vt:lpstr>Fundamentos: evaluación de sistemas de aprendizaje profundo</vt:lpstr>
      <vt:lpstr>Inteligencia artificial hoy:  Modelos de DATOS</vt:lpstr>
      <vt:lpstr>Aprendizaje de máquina: El entrenamiento</vt:lpstr>
      <vt:lpstr>Aprendizaje de máquina: La validación</vt:lpstr>
      <vt:lpstr>CLASIFICACIÓN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SEGMENTACIÓN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SÍNTESIS DE IMÁGENES</vt:lpstr>
      <vt:lpstr>Presentación de PowerPoint</vt:lpstr>
      <vt:lpstr>Presentación de PowerPoint</vt:lpstr>
      <vt:lpstr>Presentación de PowerPoint</vt:lpstr>
      <vt:lpstr>Presentación de PowerPoint</vt:lpstr>
      <vt:lpstr>Algunas conclusiones y perspectivas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Fundamentos: evaluación de sistemas de aprendizaje profundo</dc:title>
  <dc:creator>FABIO MARTINEZ CARRILLO</dc:creator>
  <cp:lastModifiedBy>FABIO MARTINEZ CARRILLO</cp:lastModifiedBy>
  <cp:revision>20</cp:revision>
  <dcterms:created xsi:type="dcterms:W3CDTF">2023-10-15T23:16:57Z</dcterms:created>
  <dcterms:modified xsi:type="dcterms:W3CDTF">2023-10-20T12:38:19Z</dcterms:modified>
</cp:coreProperties>
</file>